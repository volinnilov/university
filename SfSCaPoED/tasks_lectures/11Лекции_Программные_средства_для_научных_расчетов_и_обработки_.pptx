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9144000" cy="6858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4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A57B1EE-EEF6-4657-9B2F-89E1B5ADD30D}" type="datetimeFigureOut">
              <a:rPr lang="ru-RU"/>
              <a:t>01.11.2024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055B3C3-1B71-4A30-A036-70F5AD95B173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A57B1EE-EEF6-4657-9B2F-89E1B5ADD30D}" type="datetimeFigureOut">
              <a:rPr lang="ru-RU"/>
              <a:t>01.11.2024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055B3C3-1B71-4A30-A036-70F5AD95B173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A57B1EE-EEF6-4657-9B2F-89E1B5ADD30D}" type="datetimeFigureOut">
              <a:rPr lang="ru-RU"/>
              <a:t>01.11.2024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055B3C3-1B71-4A30-A036-70F5AD95B173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28650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29150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A57B1EE-EEF6-4657-9B2F-89E1B5ADD30D}" type="datetimeFigureOut">
              <a:rPr lang="ru-RU"/>
              <a:t>01.11.2024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055B3C3-1B71-4A30-A036-70F5AD95B173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29841" y="365126"/>
            <a:ext cx="78867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29842" y="2505074"/>
            <a:ext cx="3868340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29150" y="2505074"/>
            <a:ext cx="3887391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A57B1EE-EEF6-4657-9B2F-89E1B5ADD30D}" type="datetimeFigureOut">
              <a:rPr lang="ru-RU"/>
              <a:t>01.11.2024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055B3C3-1B71-4A30-A036-70F5AD95B173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A57B1EE-EEF6-4657-9B2F-89E1B5ADD30D}" type="datetimeFigureOut">
              <a:rPr lang="ru-RU"/>
              <a:t>01.11.2024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055B3C3-1B71-4A30-A036-70F5AD95B173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A57B1EE-EEF6-4657-9B2F-89E1B5ADD30D}" type="datetimeFigureOut">
              <a:rPr lang="ru-RU"/>
              <a:t>01.11.2024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055B3C3-1B71-4A30-A036-70F5AD95B173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A57B1EE-EEF6-4657-9B2F-89E1B5ADD30D}" type="datetimeFigureOut">
              <a:rPr lang="ru-RU"/>
              <a:t>01.11.2024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055B3C3-1B71-4A30-A036-70F5AD95B173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A57B1EE-EEF6-4657-9B2F-89E1B5ADD30D}" type="datetimeFigureOut">
              <a:rPr lang="ru-RU"/>
              <a:t>01.11.2024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055B3C3-1B71-4A30-A036-70F5AD95B173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A57B1EE-EEF6-4657-9B2F-89E1B5ADD30D}" type="datetimeFigureOut">
              <a:rPr lang="ru-RU"/>
              <a:t>01.11.2024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055B3C3-1B71-4A30-A036-70F5AD95B173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543675" y="365125"/>
            <a:ext cx="1971675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A57B1EE-EEF6-4657-9B2F-89E1B5ADD30D}" type="datetimeFigureOut">
              <a:rPr lang="ru-RU"/>
              <a:t>01.11.2024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055B3C3-1B71-4A30-A036-70F5AD95B173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A57B1EE-EEF6-4657-9B2F-89E1B5ADD30D}" type="datetimeFigureOut">
              <a:rPr lang="ru-RU"/>
              <a:t>01.11.2024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055B3C3-1B71-4A30-A036-70F5AD95B173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het.colorado.edu/sims/html/energy-skate-park/latest/energy-skate-park_en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4.png"/><Relationship Id="rId7" Type="http://schemas.openxmlformats.org/officeDocument/2006/relationships/image" Target="../media/image1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37.png"/><Relationship Id="rId4" Type="http://schemas.openxmlformats.org/officeDocument/2006/relationships/image" Target="../media/image35.png"/><Relationship Id="rId9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 sz="4400" dirty="0"/>
              <a:t>Программные средства для научных расчетов и обработки экспериментальных данных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 bwMode="auto">
          <a:xfrm>
            <a:off x="3769697" y="5659829"/>
            <a:ext cx="1604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/>
              <a:t>Клековкин А.В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28650" y="365127"/>
            <a:ext cx="7886700" cy="540038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ru-RU"/>
              <a:t>Постановка задачи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28650" y="1474644"/>
            <a:ext cx="7886700" cy="4351338"/>
          </a:xfrm>
        </p:spPr>
        <p:txBody>
          <a:bodyPr/>
          <a:lstStyle/>
          <a:p>
            <a:pPr>
              <a:defRPr/>
            </a:pPr>
            <a:r>
              <a:rPr lang="ru-RU"/>
              <a:t>Моделирование движения шарика по заданной кривой (поверхности) с учетом потенциальных сил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Потенциальные силы:</a:t>
            </a:r>
            <a:endParaRPr/>
          </a:p>
          <a:p>
            <a:pPr lvl="1">
              <a:defRPr/>
            </a:pPr>
            <a:r>
              <a:rPr lang="ru-RU"/>
              <a:t>Сила тяжести</a:t>
            </a:r>
            <a:endParaRPr/>
          </a:p>
          <a:p>
            <a:pPr lvl="1">
              <a:defRPr/>
            </a:pPr>
            <a:r>
              <a:rPr lang="ru-RU"/>
              <a:t>Сила центрального притяжения</a:t>
            </a:r>
            <a:endParaRPr/>
          </a:p>
          <a:p>
            <a:pPr lvl="1">
              <a:defRPr/>
            </a:pPr>
            <a:endParaRPr lang="ru-RU"/>
          </a:p>
          <a:p>
            <a:pPr>
              <a:defRPr/>
            </a:pPr>
            <a:r>
              <a:rPr lang="ru-RU"/>
              <a:t>Математический маятник = шарик, катящийся по дуге окружности</a:t>
            </a:r>
            <a:endParaRPr lang="en-US"/>
          </a:p>
          <a:p>
            <a:pPr>
              <a:defRPr/>
            </a:pPr>
            <a:endParaRPr lang="en-US"/>
          </a:p>
          <a:p>
            <a:pPr marL="0" indent="0">
              <a:buNone/>
              <a:defRPr/>
            </a:pPr>
            <a:endParaRPr lang="ru-RU"/>
          </a:p>
        </p:txBody>
      </p:sp>
      <p:sp>
        <p:nvSpPr>
          <p:cNvPr id="4" name="TextBox 3"/>
          <p:cNvSpPr txBox="1"/>
          <p:nvPr/>
        </p:nvSpPr>
        <p:spPr bwMode="auto">
          <a:xfrm>
            <a:off x="189345" y="6308207"/>
            <a:ext cx="8765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u="sng">
                <a:hlinkClick r:id="rId2" tooltip="https://phet.colorado.edu/sims/html/energy-skate-park/latest/energy-skate-park_en.html"/>
              </a:rPr>
              <a:t>https://phet.colorado.edu/sims/html/energy-skate-park/latest/energy-skate-park_en.html</a:t>
            </a:r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28650" y="365127"/>
            <a:ext cx="7886700" cy="422910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3200"/>
              <a:t>Лабораторная работа 1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28650" y="928697"/>
            <a:ext cx="8101282" cy="5792355"/>
          </a:xfrm>
        </p:spPr>
        <p:txBody>
          <a:bodyPr>
            <a:spAutoFit/>
          </a:bodyPr>
          <a:lstStyle/>
          <a:p>
            <a:pPr algn="just">
              <a:defRPr/>
            </a:pPr>
            <a:r>
              <a:rPr lang="ru-RU" sz="2400"/>
              <a:t>Получить уравнения движения объекта с учетом связи, с учетом силы трения.</a:t>
            </a:r>
            <a:endParaRPr/>
          </a:p>
          <a:p>
            <a:pPr algn="just">
              <a:defRPr/>
            </a:pPr>
            <a:r>
              <a:rPr lang="ru-RU" sz="2400"/>
              <a:t>Написать программу для:</a:t>
            </a:r>
            <a:endParaRPr/>
          </a:p>
          <a:p>
            <a:pPr lvl="1" algn="just">
              <a:defRPr/>
            </a:pPr>
            <a:r>
              <a:rPr lang="ru-RU" sz="2000"/>
              <a:t>Решения полученных дифференциальных уравнений численным методом, реализовать метод Эйлера и метод Хьюна. Сравнить 2 решения. (*Можно попробовать решить методом Рунге-Кутты).</a:t>
            </a:r>
            <a:endParaRPr/>
          </a:p>
          <a:p>
            <a:pPr lvl="1" algn="just">
              <a:defRPr/>
            </a:pPr>
            <a:r>
              <a:rPr lang="ru-RU" sz="2000"/>
              <a:t>Реализовать вывод графиков координат от времени, проекций скоростей от времени, график траектории </a:t>
            </a:r>
            <a:r>
              <a:rPr lang="en-US" sz="2000"/>
              <a:t>x </a:t>
            </a:r>
            <a:r>
              <a:rPr lang="ru-RU" sz="2000"/>
              <a:t>от </a:t>
            </a:r>
            <a:r>
              <a:rPr lang="en-US" sz="2000"/>
              <a:t>y.</a:t>
            </a:r>
            <a:endParaRPr lang="ru-RU" sz="2000"/>
          </a:p>
          <a:p>
            <a:pPr lvl="1" algn="just">
              <a:defRPr/>
            </a:pPr>
            <a:r>
              <a:rPr lang="ru-RU" sz="2000"/>
              <a:t>Реализовать анимацию движения объекта на плоскости </a:t>
            </a:r>
            <a:r>
              <a:rPr lang="en-US" sz="2000"/>
              <a:t>xy.</a:t>
            </a:r>
            <a:endParaRPr lang="ru-RU" sz="2400"/>
          </a:p>
          <a:p>
            <a:pPr algn="just">
              <a:defRPr/>
            </a:pPr>
            <a:r>
              <a:rPr lang="ru-RU" sz="2400"/>
              <a:t>В основном разделе отчета необходимо представить:</a:t>
            </a:r>
            <a:endParaRPr/>
          </a:p>
          <a:p>
            <a:pPr lvl="1" algn="just">
              <a:defRPr/>
            </a:pPr>
            <a:r>
              <a:rPr lang="ru-RU" sz="2000"/>
              <a:t>Вывод уравнений движения, окончательные уравнения.</a:t>
            </a:r>
            <a:endParaRPr/>
          </a:p>
          <a:p>
            <a:pPr lvl="1" algn="just">
              <a:defRPr/>
            </a:pPr>
            <a:r>
              <a:rPr lang="ru-RU" sz="2000"/>
              <a:t>Описание численных методов, которыми решались уравнения.</a:t>
            </a:r>
            <a:endParaRPr/>
          </a:p>
          <a:p>
            <a:pPr lvl="1" algn="just">
              <a:defRPr/>
            </a:pPr>
            <a:r>
              <a:rPr lang="ru-RU" sz="2000"/>
              <a:t>Решение уравнений в виде графиков координат и скоростей от времени, графика траектории движения на плоскости </a:t>
            </a:r>
            <a:r>
              <a:rPr lang="en-US" sz="2000"/>
              <a:t>xy.</a:t>
            </a:r>
            <a:endParaRPr lang="ru-RU" sz="2000"/>
          </a:p>
          <a:p>
            <a:pPr lvl="1" algn="just">
              <a:defRPr/>
            </a:pPr>
            <a:r>
              <a:rPr lang="ru-RU" sz="2000"/>
              <a:t>Алгоритм программы, интерфейс программы.</a:t>
            </a:r>
            <a:endParaRPr/>
          </a:p>
          <a:p>
            <a:pPr lvl="1" algn="just">
              <a:defRPr/>
            </a:pPr>
            <a:r>
              <a:rPr lang="ru-RU" sz="2000"/>
              <a:t>Сравнить решения уравнений, полученных с помощью разных методов. Как решения зависят от шага? Сделать выводы.</a:t>
            </a:r>
            <a:endParaRPr lang="en-US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28650" y="365127"/>
            <a:ext cx="7886700" cy="422910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3200"/>
              <a:t>Лабораторная работа 2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28650" y="928697"/>
            <a:ext cx="8101282" cy="5381473"/>
          </a:xfrm>
        </p:spPr>
        <p:txBody>
          <a:bodyPr>
            <a:spAutoFit/>
          </a:bodyPr>
          <a:lstStyle/>
          <a:p>
            <a:pPr algn="just">
              <a:spcBef>
                <a:spcPts val="0"/>
              </a:spcBef>
              <a:defRPr/>
            </a:pPr>
            <a:r>
              <a:rPr lang="ru-RU" sz="2400"/>
              <a:t>Используя теоретические уравнения движения, получить  «экспериментальные» траектории. Найти усредненную траекторию, построить доверительный интервал.</a:t>
            </a:r>
            <a:endParaRPr/>
          </a:p>
          <a:p>
            <a:pPr algn="just">
              <a:spcBef>
                <a:spcPts val="0"/>
              </a:spcBef>
              <a:defRPr/>
            </a:pPr>
            <a:endParaRPr lang="ru-RU" sz="2400"/>
          </a:p>
          <a:p>
            <a:pPr algn="just">
              <a:spcBef>
                <a:spcPts val="0"/>
              </a:spcBef>
              <a:defRPr/>
            </a:pPr>
            <a:r>
              <a:rPr lang="ru-RU" sz="2400"/>
              <a:t>Под «экспериментальной» понимается теоретическая траектория + некоторый шум: </a:t>
            </a:r>
            <a:r>
              <a:rPr lang="en-US" sz="2400"/>
              <a:t>X_exp[i] = X[i] + Noise[i]</a:t>
            </a:r>
            <a:r>
              <a:rPr lang="ru-RU" sz="2400"/>
              <a:t>;</a:t>
            </a:r>
            <a:endParaRPr/>
          </a:p>
          <a:p>
            <a:pPr lvl="1" algn="just">
              <a:spcBef>
                <a:spcPts val="0"/>
              </a:spcBef>
              <a:defRPr/>
            </a:pPr>
            <a:r>
              <a:rPr lang="en-US" sz="2000"/>
              <a:t>Noise[i] = Random() – </a:t>
            </a:r>
            <a:r>
              <a:rPr lang="ru-RU" sz="2000"/>
              <a:t>плохо;</a:t>
            </a:r>
            <a:endParaRPr lang="en-US" sz="2000"/>
          </a:p>
          <a:p>
            <a:pPr lvl="1" algn="just">
              <a:spcBef>
                <a:spcPts val="0"/>
              </a:spcBef>
              <a:defRPr/>
            </a:pPr>
            <a:r>
              <a:rPr lang="en-US" sz="2000"/>
              <a:t>Noise[i] = Noise[i-1] + Random() – </a:t>
            </a:r>
            <a:r>
              <a:rPr lang="ru-RU" sz="2000"/>
              <a:t>хорошо;</a:t>
            </a:r>
            <a:endParaRPr lang="en-US" sz="2000"/>
          </a:p>
          <a:p>
            <a:pPr lvl="1" algn="just">
              <a:spcBef>
                <a:spcPts val="0"/>
              </a:spcBef>
              <a:defRPr/>
            </a:pPr>
            <a:endParaRPr lang="ru-RU" sz="2000"/>
          </a:p>
          <a:p>
            <a:pPr algn="just">
              <a:spcBef>
                <a:spcPts val="0"/>
              </a:spcBef>
              <a:defRPr/>
            </a:pPr>
            <a:r>
              <a:rPr lang="ru-RU" sz="2400"/>
              <a:t>В основном разделе отчета необходимо представить:</a:t>
            </a:r>
            <a:endParaRPr/>
          </a:p>
          <a:p>
            <a:pPr lvl="1" algn="just">
              <a:spcBef>
                <a:spcPts val="0"/>
              </a:spcBef>
              <a:defRPr/>
            </a:pPr>
            <a:r>
              <a:rPr lang="ru-RU" sz="2000"/>
              <a:t>Описание формул, по которым производились расчеты.</a:t>
            </a:r>
            <a:endParaRPr/>
          </a:p>
          <a:p>
            <a:pPr lvl="1" algn="just">
              <a:defRPr/>
            </a:pPr>
            <a:r>
              <a:rPr lang="ru-RU" sz="2000"/>
              <a:t>Графики «экспериментальных» траекторий, средняя траектория движения на плоскости </a:t>
            </a:r>
            <a:r>
              <a:rPr lang="en-US" sz="2000"/>
              <a:t>xy.</a:t>
            </a:r>
            <a:r>
              <a:rPr lang="ru-RU" sz="2000"/>
              <a:t> Графики координат от времени с построенным доверительным интервалом.</a:t>
            </a:r>
            <a:endParaRPr/>
          </a:p>
          <a:p>
            <a:pPr lvl="1" algn="just">
              <a:defRPr/>
            </a:pPr>
            <a:r>
              <a:rPr lang="ru-RU" sz="2000"/>
              <a:t>Выполнить предыдущий пункт сначала для 5 траекторий, затем для 25.</a:t>
            </a:r>
            <a:endParaRPr/>
          </a:p>
          <a:p>
            <a:pPr lvl="1" algn="just">
              <a:defRPr/>
            </a:pPr>
            <a:r>
              <a:rPr lang="ru-RU" sz="2000"/>
              <a:t>Алгоритм программы, интерфейс программы.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28650" y="365127"/>
            <a:ext cx="7886700" cy="540038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ru-RU" dirty="0"/>
              <a:t>Критерии оценки</a:t>
            </a:r>
            <a:endParaRPr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28650" y="1253330"/>
            <a:ext cx="7886700" cy="4351338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  <a:defRPr/>
            </a:pPr>
            <a:r>
              <a:rPr lang="ru-RU" sz="2400" b="1" dirty="0"/>
              <a:t>«Отлично»</a:t>
            </a:r>
            <a:r>
              <a:rPr lang="ru-RU" sz="2400" dirty="0"/>
              <a:t>: Работа выполнена полностью самостоятельно, отчет написан самостоятельно, посещено более 80% занятий.</a:t>
            </a:r>
            <a:endParaRPr dirty="0"/>
          </a:p>
          <a:p>
            <a:pPr marL="0" indent="0" algn="just">
              <a:buNone/>
              <a:defRPr/>
            </a:pPr>
            <a:r>
              <a:rPr lang="ru-RU" sz="2400" b="1" dirty="0"/>
              <a:t>«Хорошо»</a:t>
            </a:r>
            <a:r>
              <a:rPr lang="ru-RU" sz="2400" dirty="0"/>
              <a:t>: </a:t>
            </a:r>
            <a:r>
              <a:rPr lang="ru-RU" sz="2400" dirty="0" err="1"/>
              <a:t>Бо́льшая</a:t>
            </a:r>
            <a:r>
              <a:rPr lang="ru-RU" sz="2400" dirty="0"/>
              <a:t> часть работы выполнена самостоятельно, отчет написан на основе отчетов одногруппников, посещено более 60% занятий.</a:t>
            </a:r>
            <a:endParaRPr dirty="0"/>
          </a:p>
          <a:p>
            <a:pPr marL="0" indent="0" algn="just">
              <a:buNone/>
              <a:defRPr/>
            </a:pPr>
            <a:r>
              <a:rPr lang="ru-RU" sz="2400" b="1" dirty="0"/>
              <a:t>«Удовлетворительно»</a:t>
            </a:r>
            <a:r>
              <a:rPr lang="ru-RU" sz="2400" dirty="0"/>
              <a:t>: За основу работы взята чужая программа, но выполнен свой вариант задания, отчет написан не самостоятельно, посещено более 40 % занятий.</a:t>
            </a:r>
            <a:endParaRPr dirty="0"/>
          </a:p>
          <a:p>
            <a:pPr marL="0" indent="0">
              <a:buNone/>
              <a:defRPr/>
            </a:pPr>
            <a:r>
              <a:rPr lang="ru-RU" sz="2400" b="1" dirty="0"/>
              <a:t>«Неудовлетворительно»</a:t>
            </a:r>
            <a:r>
              <a:rPr lang="ru-RU" sz="2400" dirty="0"/>
              <a:t>: Не выполнен хотя бы один пункт на оценку «удовлетворительно».</a:t>
            </a:r>
            <a:endParaRPr dirty="0"/>
          </a:p>
          <a:p>
            <a:pPr marL="0" indent="0" algn="just">
              <a:buNone/>
              <a:defRPr/>
            </a:pPr>
            <a:endParaRPr lang="ru-RU" sz="2400" dirty="0"/>
          </a:p>
          <a:p>
            <a:pPr marL="0" indent="0" algn="just">
              <a:buNone/>
              <a:defRPr/>
            </a:pPr>
            <a:r>
              <a:rPr lang="ru-RU" sz="2400" b="1" dirty="0"/>
              <a:t>Для получения желаемой оценки необходимо выполнить все требования, указанные в соответствующем пункте!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28650" y="365127"/>
            <a:ext cx="7886700" cy="540038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ru-RU"/>
              <a:t>Уравнения движения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13266" y="1312651"/>
            <a:ext cx="7886700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2400"/>
              <a:t>Для описания движения можно использовать уравнения Лагранжа 1 рода</a:t>
            </a:r>
            <a:r>
              <a:rPr lang="en-US" sz="2400"/>
              <a:t> </a:t>
            </a:r>
            <a:r>
              <a:rPr lang="ru-RU" sz="2400"/>
              <a:t>с неопределенным множителем:</a:t>
            </a:r>
            <a:endParaRPr lang="en-US" sz="2400"/>
          </a:p>
          <a:p>
            <a:pPr marL="0" indent="0">
              <a:buNone/>
              <a:defRPr/>
            </a:pPr>
            <a:endParaRPr lang="ru-RU" sz="2400"/>
          </a:p>
        </p:txBody>
      </p:sp>
      <p:pic>
        <p:nvPicPr>
          <p:cNvPr id="34" name="Рисунок 33" descr="\documentclass{article}&#10;\usepackage{amsmath}&#10;\pagestyle{empty}&#10;\begin{document}&#10;&#10;\begin{equation*}&#10;\frac{d}{dt} \frac{\partial L}{\partial \dot{x}} - &#10;\frac{\partial L}{\partial x} = \lambda \frac{\partial f}{\partial {x}}&#10;\end{equation*}&#10;&#10;&#10;\end{document}" title="IguanaTex Bitmap Display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494969" y="2207455"/>
            <a:ext cx="2154062" cy="540321"/>
          </a:xfrm>
          <a:prstGeom prst="rect">
            <a:avLst/>
          </a:prstGeom>
        </p:spPr>
      </p:pic>
      <p:pic>
        <p:nvPicPr>
          <p:cNvPr id="32" name="Рисунок 31" descr="\documentclass{article}&#10;\usepackage{amsmath}&#10;\pagestyle{empty}&#10;\begin{document}&#10;&#10;\[&#10;\frac{d}{dt} \frac{\partial L}{\partial \dot{y}} - &#10;\frac{\partial L}{\partial y} = \lambda \frac{\partial f}{\partial {y}}&#10;\]&#10;&#10;&#10;\end{document}" title="IguanaTex Bitmap Display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94969" y="3027012"/>
            <a:ext cx="2139428" cy="577524"/>
          </a:xfrm>
          <a:prstGeom prst="rect">
            <a:avLst/>
          </a:prstGeom>
        </p:spPr>
      </p:pic>
      <p:pic>
        <p:nvPicPr>
          <p:cNvPr id="36" name="Рисунок 35" descr="\documentclass{article}&#10;\usepackage{amsmath}&#10;\pagestyle{empty}&#10;\begin{document}&#10;&#10;&#10;(1)&#10;&#10;\end{document}" title="IguanaTex Bitmap Display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248381" y="2704257"/>
            <a:ext cx="274286" cy="254476"/>
          </a:xfrm>
          <a:prstGeom prst="rect">
            <a:avLst/>
          </a:prstGeom>
        </p:spPr>
      </p:pic>
      <p:grpSp>
        <p:nvGrpSpPr>
          <p:cNvPr id="54" name="Группа 53"/>
          <p:cNvGrpSpPr/>
          <p:nvPr/>
        </p:nvGrpSpPr>
        <p:grpSpPr bwMode="auto">
          <a:xfrm>
            <a:off x="1283854" y="3650313"/>
            <a:ext cx="4862847" cy="2637334"/>
            <a:chOff x="1283854" y="3650313"/>
            <a:chExt cx="4862847" cy="2637334"/>
          </a:xfrm>
        </p:grpSpPr>
        <p:pic>
          <p:nvPicPr>
            <p:cNvPr id="52" name="Рисунок 51" descr="\documentclass{article}&#10;\usepackage{amsmath}&#10;\pagestyle{empty}&#10;\begin{document}&#10;&#10;$L = T-U$ -- &#10;&#10;$T$ -- &#10;&#10;$U$ -- &#10;&#10;$f$ -- &#10;&#10;$\lambda$ --&#10;&#10;&#10;\end{document}" title="IguanaTex Bitmap Display"/>
            <p:cNvPicPr>
              <a:picLocks noChangeAspect="1"/>
            </p:cNvPicPr>
            <p:nvPr/>
          </p:nvPicPr>
          <p:blipFill>
            <a:blip r:embed="rId5"/>
            <a:stretch/>
          </p:blipFill>
          <p:spPr bwMode="auto">
            <a:xfrm>
              <a:off x="1283854" y="4201306"/>
              <a:ext cx="1977204" cy="1981534"/>
            </a:xfrm>
            <a:prstGeom prst="rect">
              <a:avLst/>
            </a:prstGeom>
          </p:spPr>
        </p:pic>
        <p:sp>
          <p:nvSpPr>
            <p:cNvPr id="44" name="TextBox 43"/>
            <p:cNvSpPr txBox="1"/>
            <p:nvPr/>
          </p:nvSpPr>
          <p:spPr bwMode="auto">
            <a:xfrm>
              <a:off x="3323108" y="4110225"/>
              <a:ext cx="18678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ru-RU" sz="2400"/>
                <a:t>Лагранжиан,</a:t>
              </a:r>
              <a:endParaRPr/>
            </a:p>
          </p:txBody>
        </p:sp>
        <p:sp>
          <p:nvSpPr>
            <p:cNvPr id="45" name="TextBox 44"/>
            <p:cNvSpPr txBox="1"/>
            <p:nvPr/>
          </p:nvSpPr>
          <p:spPr bwMode="auto">
            <a:xfrm>
              <a:off x="2036603" y="4533528"/>
              <a:ext cx="31621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ru-RU" sz="2400"/>
                <a:t>Кинетическая энергия,</a:t>
              </a:r>
              <a:endParaRPr/>
            </a:p>
          </p:txBody>
        </p:sp>
        <p:sp>
          <p:nvSpPr>
            <p:cNvPr id="46" name="TextBox 45"/>
            <p:cNvSpPr txBox="1"/>
            <p:nvPr/>
          </p:nvSpPr>
          <p:spPr bwMode="auto">
            <a:xfrm>
              <a:off x="2028779" y="4956831"/>
              <a:ext cx="33921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ru-RU" sz="2400"/>
                <a:t>Потенциальная энергия,</a:t>
              </a:r>
              <a:endParaRPr/>
            </a:p>
          </p:txBody>
        </p:sp>
        <p:sp>
          <p:nvSpPr>
            <p:cNvPr id="47" name="TextBox 46"/>
            <p:cNvSpPr txBox="1"/>
            <p:nvPr/>
          </p:nvSpPr>
          <p:spPr bwMode="auto">
            <a:xfrm>
              <a:off x="2036603" y="5380134"/>
              <a:ext cx="24606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ru-RU" sz="2400"/>
                <a:t>Уравнение связи,</a:t>
              </a:r>
              <a:endParaRPr/>
            </a:p>
          </p:txBody>
        </p:sp>
        <p:sp>
          <p:nvSpPr>
            <p:cNvPr id="49" name="TextBox 48"/>
            <p:cNvSpPr txBox="1"/>
            <p:nvPr/>
          </p:nvSpPr>
          <p:spPr bwMode="auto">
            <a:xfrm>
              <a:off x="1283854" y="3650313"/>
              <a:ext cx="6884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ru-RU" sz="2400"/>
                <a:t>Где:</a:t>
              </a:r>
              <a:endParaRPr/>
            </a:p>
          </p:txBody>
        </p:sp>
        <p:sp>
          <p:nvSpPr>
            <p:cNvPr id="53" name="TextBox 52"/>
            <p:cNvSpPr txBox="1"/>
            <p:nvPr/>
          </p:nvSpPr>
          <p:spPr bwMode="auto">
            <a:xfrm>
              <a:off x="2028779" y="5825982"/>
              <a:ext cx="41179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ru-RU" sz="2400"/>
                <a:t>Неопределенный множитель.</a:t>
              </a:r>
              <a:endParaRPr/>
            </a:p>
          </p:txBody>
        </p:sp>
      </p:grpSp>
      <p:pic>
        <p:nvPicPr>
          <p:cNvPr id="57" name="Рисунок 56" descr="\documentclass{article}&#10;\usepackage{amsmath}&#10;\pagestyle{empty}&#10;\begin{document}&#10;&#10;&#10;(2)&#10;&#10;\end{document}" title="IguanaTex Bitmap Display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8254436" y="4213820"/>
            <a:ext cx="276298" cy="2549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" name="Объект 2"/>
          <p:cNvSpPr txBox="1"/>
          <p:nvPr/>
        </p:nvSpPr>
        <p:spPr bwMode="auto">
          <a:xfrm>
            <a:off x="628650" y="1043188"/>
            <a:ext cx="7886700" cy="53657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  <a:defRPr/>
            </a:pPr>
            <a:r>
              <a:rPr lang="en-US"/>
              <a:t>1. </a:t>
            </a:r>
            <a:r>
              <a:rPr lang="ru-RU"/>
              <a:t>Кинетическая энергия (у всех одинаковая):</a:t>
            </a:r>
            <a:endParaRPr lang="en-US"/>
          </a:p>
          <a:p>
            <a:pPr marL="0" indent="0">
              <a:buFont typeface="Arial"/>
              <a:buNone/>
              <a:defRPr/>
            </a:pPr>
            <a:endParaRPr lang="ru-RU" sz="2400"/>
          </a:p>
          <a:p>
            <a:pPr lvl="1">
              <a:defRPr/>
            </a:pPr>
            <a:endParaRPr lang="en-US"/>
          </a:p>
          <a:p>
            <a:pPr marL="457200" lvl="1" indent="0">
              <a:buNone/>
              <a:defRPr/>
            </a:pPr>
            <a:r>
              <a:rPr lang="en-US"/>
              <a:t>2</a:t>
            </a:r>
            <a:r>
              <a:rPr lang="ru-RU"/>
              <a:t>. Потенциальная энергия:</a:t>
            </a:r>
            <a:endParaRPr/>
          </a:p>
          <a:p>
            <a:pPr lvl="2">
              <a:defRPr/>
            </a:pPr>
            <a:r>
              <a:rPr lang="ru-RU"/>
              <a:t>Поле силы тяжести:</a:t>
            </a:r>
            <a:endParaRPr/>
          </a:p>
          <a:p>
            <a:pPr lvl="2">
              <a:defRPr/>
            </a:pPr>
            <a:endParaRPr lang="ru-RU"/>
          </a:p>
          <a:p>
            <a:pPr lvl="2">
              <a:defRPr/>
            </a:pPr>
            <a:r>
              <a:rPr lang="ru-RU"/>
              <a:t>Центральное притяжение:</a:t>
            </a:r>
            <a:endParaRPr/>
          </a:p>
          <a:p>
            <a:pPr lvl="2">
              <a:defRPr/>
            </a:pPr>
            <a:endParaRPr lang="ru-RU"/>
          </a:p>
          <a:p>
            <a:pPr marL="914400" lvl="2" indent="0">
              <a:buNone/>
              <a:defRPr/>
            </a:pPr>
            <a:r>
              <a:rPr lang="ru-RU"/>
              <a:t>где </a:t>
            </a:r>
            <a:r>
              <a:rPr lang="en-US">
                <a:latin typeface="CMU Classical Serif"/>
                <a:ea typeface="CMU Classical Serif"/>
                <a:cs typeface="CMU Classical Serif"/>
              </a:rPr>
              <a:t>R</a:t>
            </a:r>
            <a:r>
              <a:rPr lang="en-US"/>
              <a:t> – </a:t>
            </a:r>
            <a:r>
              <a:rPr lang="ru-RU"/>
              <a:t>расстояние от объекта до точки притяжения.</a:t>
            </a:r>
            <a:endParaRPr lang="en-US"/>
          </a:p>
          <a:p>
            <a:pPr lvl="2">
              <a:defRPr/>
            </a:pPr>
            <a:r>
              <a:rPr lang="ru-RU"/>
              <a:t>Если точка притяжения имеет координаты</a:t>
            </a:r>
            <a:r>
              <a:rPr lang="en-US"/>
              <a:t>                </a:t>
            </a:r>
            <a:r>
              <a:rPr lang="ru-RU"/>
              <a:t>, то </a:t>
            </a:r>
            <a:endParaRPr/>
          </a:p>
          <a:p>
            <a:pPr marL="457200" lvl="1" indent="0">
              <a:buFont typeface="Arial"/>
              <a:buNone/>
              <a:defRPr/>
            </a:pPr>
            <a:endParaRPr lang="en-US"/>
          </a:p>
          <a:p>
            <a:pPr lvl="1">
              <a:defRPr/>
            </a:pPr>
            <a:endParaRPr lang="ru-RU"/>
          </a:p>
          <a:p>
            <a:pPr marL="457200" lvl="1" indent="0">
              <a:buFont typeface="Arial"/>
              <a:buNone/>
              <a:defRPr/>
            </a:pPr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28650" y="365127"/>
            <a:ext cx="7886700" cy="540038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ru-RU"/>
              <a:t>Энергия</a:t>
            </a:r>
            <a:endParaRPr/>
          </a:p>
        </p:txBody>
      </p:sp>
      <p:pic>
        <p:nvPicPr>
          <p:cNvPr id="21" name="Рисунок 20" descr="\documentclass{article}&#10;\usepackage{amsmath}&#10;\pagestyle{empty}&#10;\begin{document}&#10;&#10;\[&#10;U = mgy&#10;\]&#10;&#10;&#10;\end{document}" title="IguanaTex Bitmap Display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072540" y="3082534"/>
            <a:ext cx="998919" cy="224169"/>
          </a:xfrm>
          <a:prstGeom prst="rect">
            <a:avLst/>
          </a:prstGeom>
        </p:spPr>
      </p:pic>
      <p:pic>
        <p:nvPicPr>
          <p:cNvPr id="23" name="Рисунок 22" descr="\documentclass{article}&#10;\usepackage{amsmath}&#10;\pagestyle{empty}&#10;\begin{document}&#10;&#10;\begin{equation*}&#10;T = \frac{1}{2}m(\dot{x}^2 + \dot{y}^2)&#10;\end{equation*}&#10;&#10;&#10;\end{document}" title="IguanaTex Bitmap Display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609243" y="1579844"/>
            <a:ext cx="1925515" cy="523177"/>
          </a:xfrm>
          <a:prstGeom prst="rect">
            <a:avLst/>
          </a:prstGeom>
        </p:spPr>
      </p:pic>
      <p:pic>
        <p:nvPicPr>
          <p:cNvPr id="9" name="Рисунок 8" descr="\documentclass{article}&#10;\usepackage{amsmath}&#10;\pagestyle{empty}&#10;\begin{document}&#10;&#10;&#10;(3)&#10;&#10;\end{document}" title="IguanaTex Bitmap Display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239053" y="1713956"/>
            <a:ext cx="278325" cy="255431"/>
          </a:xfrm>
          <a:prstGeom prst="rect">
            <a:avLst/>
          </a:prstGeom>
        </p:spPr>
      </p:pic>
      <p:pic>
        <p:nvPicPr>
          <p:cNvPr id="6" name="Рисунок 5" descr="\documentclass{article}&#10;\usepackage{amsmath}&#10;\pagestyle{empty}&#10;\begin{document}&#10;&#10;\[&#10;U = -mg/R&#10;\]&#10;&#10;&#10;\end{document}" title="IguanaTex Bitmap Display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4040310" y="3728651"/>
            <a:ext cx="1391987" cy="256172"/>
          </a:xfrm>
          <a:prstGeom prst="rect">
            <a:avLst/>
          </a:prstGeom>
        </p:spPr>
      </p:pic>
      <p:pic>
        <p:nvPicPr>
          <p:cNvPr id="26" name="Рисунок 25" descr="\documentclass{article}&#10;\usepackage{amsmath}&#10;\pagestyle{empty}&#10;\begin{document}&#10;&#10;$(x_c;y_c)$&#10;&#10;&#10;\end{document}" title="IguanaTex Bitmap Display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6542744" y="4417649"/>
            <a:ext cx="734476" cy="254476"/>
          </a:xfrm>
          <a:prstGeom prst="rect">
            <a:avLst/>
          </a:prstGeom>
        </p:spPr>
      </p:pic>
      <p:pic>
        <p:nvPicPr>
          <p:cNvPr id="27" name="Рисунок 26" descr="\documentclass{article}&#10;\usepackage{amsmath}&#10;\pagestyle{empty}&#10;\begin{document}&#10;&#10;\[&#10;R = \sqrt{ (x_c-x)^2 + (y_c - y)^2}&#10;\]&#10;&#10;&#10;\end{document}" title="IguanaTex Bitmap Display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3034428" y="4892683"/>
            <a:ext cx="3075144" cy="303709"/>
          </a:xfrm>
          <a:prstGeom prst="rect">
            <a:avLst/>
          </a:prstGeom>
        </p:spPr>
      </p:pic>
      <p:pic>
        <p:nvPicPr>
          <p:cNvPr id="11" name="Рисунок 10" descr="\documentclass{article}&#10;\usepackage{amsmath}&#10;\pagestyle{empty}&#10;\begin{document}&#10;&#10;&#10;(4)&#10;&#10;\end{document}" title="IguanaTex Bitmap Display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8239054" y="3066902"/>
            <a:ext cx="280367" cy="255910"/>
          </a:xfrm>
          <a:prstGeom prst="rect">
            <a:avLst/>
          </a:prstGeom>
        </p:spPr>
      </p:pic>
      <p:pic>
        <p:nvPicPr>
          <p:cNvPr id="13" name="Рисунок 12" descr="\documentclass{article}&#10;\usepackage{amsmath}&#10;\pagestyle{empty}&#10;\begin{document}&#10;&#10;&#10;(5)&#10;&#10;\end{document}" title="IguanaTex Bitmap Display"/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>
            <a:off x="8239054" y="3765504"/>
            <a:ext cx="280367" cy="2559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>
            <a:alpha val="97999"/>
          </a:schemeClr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28650" y="365127"/>
            <a:ext cx="7886700" cy="540038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ru-RU"/>
              <a:t>Алгоритм решения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28650" y="905165"/>
            <a:ext cx="7886700" cy="5365733"/>
          </a:xfrm>
        </p:spPr>
        <p:txBody>
          <a:bodyPr>
            <a:noAutofit/>
          </a:bodyPr>
          <a:lstStyle/>
          <a:p>
            <a:pPr marL="534988" lvl="1" indent="-457200">
              <a:buFont typeface="+mj-lt"/>
              <a:buAutoNum type="arabicPeriod"/>
              <a:defRPr/>
            </a:pPr>
            <a:r>
              <a:rPr lang="ru-RU" dirty="0"/>
              <a:t>Записать кинетическую и потенциальную энергию</a:t>
            </a:r>
            <a:endParaRPr dirty="0"/>
          </a:p>
          <a:p>
            <a:pPr marL="534988" lvl="1" indent="-457200">
              <a:buFont typeface="+mj-lt"/>
              <a:buAutoNum type="arabicPeriod"/>
              <a:defRPr/>
            </a:pPr>
            <a:r>
              <a:rPr lang="ru-RU" dirty="0"/>
              <a:t>Подставить в лагранжиан (2)</a:t>
            </a:r>
            <a:endParaRPr dirty="0"/>
          </a:p>
          <a:p>
            <a:pPr marL="534988" lvl="1" indent="-457200">
              <a:buFont typeface="+mj-lt"/>
              <a:buAutoNum type="arabicPeriod"/>
              <a:defRPr/>
            </a:pPr>
            <a:r>
              <a:rPr lang="ru-RU" dirty="0"/>
              <a:t>Лагранжиан подставить в уравнения движения (1)</a:t>
            </a:r>
            <a:endParaRPr lang="en-US" dirty="0"/>
          </a:p>
          <a:p>
            <a:pPr marL="534988" lvl="1" indent="-457200">
              <a:buFont typeface="+mj-lt"/>
              <a:buAutoNum type="arabicPeriod"/>
              <a:defRPr/>
            </a:pPr>
            <a:r>
              <a:rPr lang="ru-RU" dirty="0"/>
              <a:t>Для определения неопределенного множителя находим вторую производную связи по времени      и приравниваем к 0.</a:t>
            </a:r>
            <a:endParaRPr dirty="0"/>
          </a:p>
          <a:p>
            <a:pPr marL="534988" lvl="1" indent="-457200">
              <a:buFont typeface="+mj-lt"/>
              <a:buAutoNum type="arabicPeriod"/>
              <a:defRPr/>
            </a:pPr>
            <a:r>
              <a:rPr lang="ru-RU" dirty="0"/>
              <a:t>Выражаем </a:t>
            </a:r>
            <a:r>
              <a:rPr lang="en-US" dirty="0"/>
              <a:t>      </a:t>
            </a:r>
            <a:r>
              <a:rPr lang="ru-RU" dirty="0"/>
              <a:t>и      из уравнений движения, полученных в п. 3 и подставляем в     .</a:t>
            </a:r>
            <a:endParaRPr dirty="0"/>
          </a:p>
          <a:p>
            <a:pPr marL="534988" lvl="1" indent="-457200">
              <a:buFont typeface="+mj-lt"/>
              <a:buAutoNum type="arabicPeriod"/>
              <a:defRPr/>
            </a:pPr>
            <a:r>
              <a:rPr lang="ru-RU" dirty="0"/>
              <a:t>Из полученного выражения</a:t>
            </a:r>
            <a:r>
              <a:rPr lang="en-US" dirty="0"/>
              <a:t> </a:t>
            </a:r>
            <a:r>
              <a:rPr lang="ru-RU" dirty="0"/>
              <a:t>выражаем неопределенный множитель </a:t>
            </a:r>
            <a:r>
              <a:rPr lang="en-US" dirty="0"/>
              <a:t>    </a:t>
            </a:r>
            <a:r>
              <a:rPr lang="ru-RU" dirty="0"/>
              <a:t> и подставляем в уравнения движения, полученные в пункте 3.</a:t>
            </a:r>
          </a:p>
          <a:p>
            <a:pPr lvl="2">
              <a:defRPr/>
            </a:pPr>
            <a:r>
              <a:rPr lang="ru-RU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Добавляем в полученные</a:t>
            </a:r>
            <a:r>
              <a:rPr lang="en-US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уравнения движения слагаемые, описывающие вязкое трение (пропорциональные скорости).</a:t>
            </a:r>
            <a:endParaRPr lang="en-US" dirty="0"/>
          </a:p>
          <a:p>
            <a:pPr marL="534988" lvl="1" indent="-457200">
              <a:buFont typeface="+mj-lt"/>
              <a:buAutoNum type="arabicPeriod"/>
              <a:defRPr/>
            </a:pPr>
            <a:r>
              <a:rPr lang="ru-RU" dirty="0"/>
              <a:t>Решаем полученные уравнения численным методом.</a:t>
            </a:r>
            <a:endParaRPr dirty="0"/>
          </a:p>
          <a:p>
            <a:pPr lvl="1">
              <a:defRPr/>
            </a:pPr>
            <a:endParaRPr lang="ru-RU" dirty="0"/>
          </a:p>
          <a:p>
            <a:pPr lvl="1">
              <a:defRPr/>
            </a:pPr>
            <a:endParaRPr lang="ru-RU" dirty="0"/>
          </a:p>
          <a:p>
            <a:pPr lvl="1">
              <a:defRPr/>
            </a:pPr>
            <a:endParaRPr lang="en-US" dirty="0"/>
          </a:p>
          <a:p>
            <a:pPr lvl="1">
              <a:defRPr/>
            </a:pPr>
            <a:endParaRPr lang="ru-RU" dirty="0"/>
          </a:p>
          <a:p>
            <a:pPr marL="457200" lvl="1" indent="0">
              <a:buNone/>
              <a:defRPr/>
            </a:pPr>
            <a:endParaRPr lang="ru-RU" dirty="0"/>
          </a:p>
        </p:txBody>
      </p:sp>
      <p:pic>
        <p:nvPicPr>
          <p:cNvPr id="20" name="Рисунок 19" descr="\documentclass{article}&#10;\usepackage{amsmath}&#10;\pagestyle{empty}&#10;\begin{document}&#10;&#10;&#10;$\ddot{f}$&#10;&#10;\end{document}" title="IguanaTex Bitmap Display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730748" y="2414787"/>
            <a:ext cx="171885" cy="345600"/>
          </a:xfrm>
          <a:prstGeom prst="rect">
            <a:avLst/>
          </a:prstGeom>
        </p:spPr>
      </p:pic>
      <p:pic>
        <p:nvPicPr>
          <p:cNvPr id="7" name="Рисунок 6" descr="\documentclass{article}&#10;\usepackage{amsmath}&#10;\pagestyle{empty}&#10;\begin{document}&#10;&#10;&#10;$\ddot{x}$&#10;&#10;\end{document}" title="IguanaTex Bitmap Display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799811" y="3200996"/>
            <a:ext cx="154678" cy="207702"/>
          </a:xfrm>
          <a:prstGeom prst="rect">
            <a:avLst/>
          </a:prstGeom>
        </p:spPr>
      </p:pic>
      <p:pic>
        <p:nvPicPr>
          <p:cNvPr id="9" name="Рисунок 8" descr="\documentclass{article}&#10;\usepackage{amsmath}&#10;\pagestyle{empty}&#10;\begin{document}&#10;&#10;&#10;$\ddot{y}$&#10;&#10;\end{document}" title="IguanaTex Bitmap Display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440970" y="3200996"/>
            <a:ext cx="143630" cy="266520"/>
          </a:xfrm>
          <a:prstGeom prst="rect">
            <a:avLst/>
          </a:prstGeom>
        </p:spPr>
      </p:pic>
      <p:pic>
        <p:nvPicPr>
          <p:cNvPr id="11" name="Рисунок 10" descr="\documentclass{article}&#10;\usepackage{amsmath}&#10;\pagestyle{empty}&#10;\begin{document}&#10;&#10;&#10;$\ddot{f}$&#10;&#10;\end{document}" title="IguanaTex Bitmap Display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846494" y="3467516"/>
            <a:ext cx="171885" cy="345600"/>
          </a:xfrm>
          <a:prstGeom prst="rect">
            <a:avLst/>
          </a:prstGeom>
        </p:spPr>
      </p:pic>
      <p:pic>
        <p:nvPicPr>
          <p:cNvPr id="12" name="Рисунок 11" descr="\documentclass{article}&#10;\usepackage{amsmath}&#10;\pagestyle{empty}&#10;\begin{document}&#10;&#10;&#10;$\lambda$&#10;&#10;\end{document}" title="IguanaTex Bitmap Display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5188309" y="4274056"/>
            <a:ext cx="151770" cy="2139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28650" y="365127"/>
            <a:ext cx="7886700" cy="540038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ru-RU"/>
              <a:t>Связь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28650" y="1126531"/>
            <a:ext cx="7886700" cy="536573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2400"/>
              <a:t>Связь – ограничение движения – в данном случае определяет кривую, по которой движется объект. </a:t>
            </a:r>
            <a:endParaRPr/>
          </a:p>
          <a:p>
            <a:pPr>
              <a:defRPr/>
            </a:pPr>
            <a:r>
              <a:rPr lang="ru-RU" sz="2400"/>
              <a:t>Связь определяется вариантом и у каждого своя.</a:t>
            </a:r>
            <a:endParaRPr/>
          </a:p>
          <a:p>
            <a:pPr>
              <a:defRPr/>
            </a:pPr>
            <a:r>
              <a:rPr lang="ru-RU" sz="2400"/>
              <a:t>Например, связь для движения по дуге окружности:</a:t>
            </a:r>
            <a:endParaRPr/>
          </a:p>
          <a:p>
            <a:pPr marL="457200" lvl="1" indent="0">
              <a:buNone/>
              <a:defRPr/>
            </a:pPr>
            <a:endParaRPr lang="en-US" sz="2000"/>
          </a:p>
          <a:p>
            <a:pPr lvl="1">
              <a:defRPr/>
            </a:pPr>
            <a:endParaRPr lang="ru-RU" sz="2000"/>
          </a:p>
          <a:p>
            <a:pPr marL="457200" lvl="1" indent="0">
              <a:buNone/>
              <a:defRPr/>
            </a:pPr>
            <a:endParaRPr lang="ru-RU" sz="2000"/>
          </a:p>
        </p:txBody>
      </p:sp>
      <p:pic>
        <p:nvPicPr>
          <p:cNvPr id="5" name="Рисунок 4" descr="\documentclass{article}&#10;\usepackage{amsmath}&#10;\pagestyle{empty}&#10;\begin{document}&#10;&#10;$f=x^2+y^2-l^2=0$&#10;&#10;&#10;\end{document}" title="IguanaTex Bitmap Display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448190" y="3054664"/>
            <a:ext cx="2247846" cy="261047"/>
          </a:xfrm>
          <a:prstGeom prst="rect">
            <a:avLst/>
          </a:prstGeom>
        </p:spPr>
      </p:pic>
      <p:pic>
        <p:nvPicPr>
          <p:cNvPr id="17" name="Рисунок 16" descr="\documentclass{article}&#10;\usepackage{amsmath}&#10;\pagestyle{empty}&#10;\begin{document}&#10;&#10;&#10;(6)&#10;&#10;\end{document}" title="IguanaTex Bitmap Display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239053" y="3054665"/>
            <a:ext cx="280367" cy="2559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28650" y="365127"/>
            <a:ext cx="7886700" cy="540038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ru-RU"/>
              <a:t>Пример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28650" y="1034561"/>
            <a:ext cx="7886700" cy="536573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2400"/>
              <a:t>Рассмотрим пример движения шарика по дуге окружности под действием силы тяжести.</a:t>
            </a:r>
            <a:endParaRPr/>
          </a:p>
          <a:p>
            <a:pPr>
              <a:defRPr/>
            </a:pPr>
            <a:r>
              <a:rPr lang="ru-RU" sz="2400"/>
              <a:t>Связь: </a:t>
            </a:r>
            <a:endParaRPr lang="en-US" sz="2400"/>
          </a:p>
          <a:p>
            <a:pPr>
              <a:defRPr/>
            </a:pPr>
            <a:r>
              <a:rPr lang="ru-RU" sz="2400"/>
              <a:t>Начальные условия:</a:t>
            </a:r>
            <a:endParaRPr/>
          </a:p>
          <a:p>
            <a:pPr>
              <a:defRPr/>
            </a:pPr>
            <a:endParaRPr lang="ru-RU" sz="2400"/>
          </a:p>
          <a:p>
            <a:pPr lvl="1">
              <a:defRPr/>
            </a:pPr>
            <a:endParaRPr lang="ru-RU" sz="2000"/>
          </a:p>
          <a:p>
            <a:pPr marL="457200" lvl="1" indent="0">
              <a:buNone/>
              <a:defRPr/>
            </a:pPr>
            <a:endParaRPr lang="ru-RU" sz="2000"/>
          </a:p>
        </p:txBody>
      </p:sp>
      <p:pic>
        <p:nvPicPr>
          <p:cNvPr id="5" name="Рисунок 4" descr="\documentclass{article}&#10;\usepackage{amsmath}&#10;\pagestyle{empty}&#10;\begin{document}&#10;&#10;$f=x^2+y^2-l^2=0$&#10;&#10;&#10;\end{document}" title="IguanaTex Bitmap Display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034916" y="1899160"/>
            <a:ext cx="2247846" cy="261047"/>
          </a:xfrm>
          <a:prstGeom prst="rect">
            <a:avLst/>
          </a:prstGeom>
        </p:spPr>
      </p:pic>
      <p:pic>
        <p:nvPicPr>
          <p:cNvPr id="6" name="Рисунок 5" descr="\documentclass{article}&#10;\usepackage{amsmath}&#10;\pagestyle{empty}&#10;\begin{document}&#10;&#10;$x_0=2$, \quad $y_0=0$, \quad $\dot{x}_0=0$, \quad $\dot{y}_0=0$.&#10;&#10;&#10;\end{document}" title="IguanaTex Bitmap Display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105257" y="2760303"/>
            <a:ext cx="4933486" cy="265143"/>
          </a:xfrm>
          <a:prstGeom prst="rect">
            <a:avLst/>
          </a:prstGeom>
        </p:spPr>
      </p:pic>
      <p:pic>
        <p:nvPicPr>
          <p:cNvPr id="10" name="Рисунок 9" descr="\documentclass{article}&#10;\usepackage{amsmath}&#10;\pagestyle{empty}&#10;\begin{document}&#10;&#10;&#10;$m=1$&#10;&#10;\end{document}" title="IguanaTex Bitmap Display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242095" y="3258333"/>
            <a:ext cx="659809" cy="1706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28650" y="365127"/>
            <a:ext cx="7886700" cy="540038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ru-RU"/>
              <a:t>Алгоритм решения. Пример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28650" y="905165"/>
            <a:ext cx="7886700" cy="5365733"/>
          </a:xfrm>
        </p:spPr>
        <p:txBody>
          <a:bodyPr>
            <a:noAutofit/>
          </a:bodyPr>
          <a:lstStyle/>
          <a:p>
            <a:pPr marL="534988" lvl="1" indent="-457200">
              <a:buFont typeface="+mj-lt"/>
              <a:buAutoNum type="arabicPeriod"/>
              <a:defRPr/>
            </a:pPr>
            <a:r>
              <a:rPr lang="ru-RU"/>
              <a:t>Записать кинетическую и потенциальную энергию</a:t>
            </a:r>
            <a:endParaRPr/>
          </a:p>
          <a:p>
            <a:pPr lvl="1">
              <a:defRPr/>
            </a:pPr>
            <a:r>
              <a:rPr lang="ru-RU" sz="2000"/>
              <a:t>Кинетическая энергия:</a:t>
            </a:r>
            <a:endParaRPr lang="en-US" sz="2000"/>
          </a:p>
          <a:p>
            <a:pPr marL="0" indent="0">
              <a:buNone/>
              <a:defRPr/>
            </a:pPr>
            <a:endParaRPr lang="ru-RU" sz="2400"/>
          </a:p>
          <a:p>
            <a:pPr lvl="1">
              <a:defRPr/>
            </a:pPr>
            <a:r>
              <a:rPr lang="ru-RU" sz="2000"/>
              <a:t>Потенциальная энергия:</a:t>
            </a:r>
            <a:endParaRPr lang="en-US" sz="2000"/>
          </a:p>
          <a:p>
            <a:pPr lvl="1">
              <a:defRPr/>
            </a:pPr>
            <a:endParaRPr lang="ru-RU" sz="2000"/>
          </a:p>
          <a:p>
            <a:pPr marL="457200" indent="-457200">
              <a:buFont typeface="+mj-lt"/>
              <a:buAutoNum type="arabicPeriod" startAt="2"/>
              <a:defRPr/>
            </a:pPr>
            <a:r>
              <a:rPr lang="ru-RU" sz="2400"/>
              <a:t>Лагранжиан:</a:t>
            </a:r>
            <a:endParaRPr/>
          </a:p>
          <a:p>
            <a:pPr marL="0" indent="0">
              <a:buNone/>
              <a:defRPr/>
            </a:pPr>
            <a:endParaRPr lang="en-US" sz="2400"/>
          </a:p>
          <a:p>
            <a:pPr marL="0" indent="0">
              <a:buNone/>
              <a:defRPr/>
            </a:pPr>
            <a:endParaRPr lang="en-US" sz="2400"/>
          </a:p>
        </p:txBody>
      </p:sp>
      <p:pic>
        <p:nvPicPr>
          <p:cNvPr id="5" name="Рисунок 4" descr="\documentclass{article}&#10;\usepackage{amsmath}&#10;\pagestyle{empty}&#10;\begin{document}&#10;&#10;\begin{equation*}&#10;T = \frac{1}{2}m(\dot{x}^2 + \dot{y}^2)&#10;\end{equation*}&#10;&#10;&#10;\end{document}" title="IguanaTex Bitmap Display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609243" y="1630656"/>
            <a:ext cx="1925515" cy="523177"/>
          </a:xfrm>
          <a:prstGeom prst="rect">
            <a:avLst/>
          </a:prstGeom>
        </p:spPr>
      </p:pic>
      <p:pic>
        <p:nvPicPr>
          <p:cNvPr id="13" name="Рисунок 12" descr="\documentclass{article}&#10;\usepackage{amsmath}&#10;\pagestyle{empty}&#10;\begin{document}&#10;&#10;\[&#10;U = mgy&#10;\]&#10;&#10;&#10;\end{document}" title="IguanaTex Bitmap Display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072540" y="2529544"/>
            <a:ext cx="998919" cy="224169"/>
          </a:xfrm>
          <a:prstGeom prst="rect">
            <a:avLst/>
          </a:prstGeom>
        </p:spPr>
      </p:pic>
      <p:pic>
        <p:nvPicPr>
          <p:cNvPr id="6" name="Рисунок 5" descr="\documentclass{article}&#10;\usepackage{amsmath}&#10;\pagestyle{empty}&#10;\begin{document}&#10;&#10;\begin{equation*}&#10;L = \frac{1}{2}m(\dot{x}^2 + \dot{y}^2) - mgy&#10;\end{equation*}&#10;&#10;&#10;\end{document}" title="IguanaTex Bitmap Display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207921" y="3293751"/>
            <a:ext cx="2728155" cy="5246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28650" y="365127"/>
            <a:ext cx="7886700" cy="540038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ru-RU"/>
              <a:t>Алгоритм решения. Пример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28650" y="905165"/>
            <a:ext cx="7886700" cy="5365733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 startAt="3"/>
              <a:defRPr/>
            </a:pPr>
            <a:r>
              <a:rPr lang="ru-RU" sz="2400"/>
              <a:t>Подставляем </a:t>
            </a:r>
            <a:r>
              <a:rPr lang="en-US" sz="2400" i="1">
                <a:latin typeface="CMU Classical Serif"/>
                <a:ea typeface="CMU Classical Serif"/>
                <a:cs typeface="CMU Classical Serif"/>
              </a:rPr>
              <a:t>L</a:t>
            </a:r>
            <a:r>
              <a:rPr lang="en-US" sz="2400"/>
              <a:t> </a:t>
            </a:r>
            <a:r>
              <a:rPr lang="ru-RU" sz="2400"/>
              <a:t>и </a:t>
            </a:r>
            <a:r>
              <a:rPr lang="en-US" sz="2400">
                <a:latin typeface="CMU Classical Serif"/>
                <a:ea typeface="CMU Classical Serif"/>
                <a:cs typeface="CMU Classical Serif"/>
              </a:rPr>
              <a:t>f</a:t>
            </a:r>
            <a:r>
              <a:rPr lang="en-US" sz="2400"/>
              <a:t> </a:t>
            </a:r>
            <a:r>
              <a:rPr lang="ru-RU" sz="2400"/>
              <a:t>в уравнения (1)</a:t>
            </a:r>
            <a:r>
              <a:rPr lang="en-US" sz="2400"/>
              <a:t>:</a:t>
            </a:r>
            <a:endParaRPr lang="ru-RU" sz="2400"/>
          </a:p>
          <a:p>
            <a:pPr marL="457200" indent="-457200">
              <a:buFont typeface="+mj-lt"/>
              <a:buAutoNum type="arabicPeriod" startAt="3"/>
              <a:defRPr/>
            </a:pPr>
            <a:endParaRPr lang="ru-RU" sz="2400"/>
          </a:p>
          <a:p>
            <a:pPr marL="457200" indent="-457200">
              <a:buFont typeface="+mj-lt"/>
              <a:buAutoNum type="arabicPeriod" startAt="3"/>
              <a:defRPr/>
            </a:pPr>
            <a:endParaRPr lang="ru-RU" sz="2400"/>
          </a:p>
          <a:p>
            <a:pPr marL="457200" indent="-457200">
              <a:buFont typeface="+mj-lt"/>
              <a:buAutoNum type="arabicPeriod" startAt="3"/>
              <a:defRPr/>
            </a:pPr>
            <a:endParaRPr lang="ru-RU" sz="2400"/>
          </a:p>
          <a:p>
            <a:pPr marL="457200" indent="-457200">
              <a:buFont typeface="+mj-lt"/>
              <a:buAutoNum type="arabicPeriod" startAt="3"/>
              <a:defRPr/>
            </a:pPr>
            <a:endParaRPr lang="ru-RU" sz="2400"/>
          </a:p>
          <a:p>
            <a:pPr marL="0" indent="0">
              <a:buNone/>
              <a:defRPr/>
            </a:pPr>
            <a:r>
              <a:rPr lang="ru-RU" sz="2400"/>
              <a:t>Получаем:</a:t>
            </a:r>
            <a:endParaRPr lang="en-US" sz="2400"/>
          </a:p>
          <a:p>
            <a:pPr marL="0" indent="0">
              <a:buNone/>
              <a:defRPr/>
            </a:pPr>
            <a:endParaRPr lang="en-US" sz="2400"/>
          </a:p>
          <a:p>
            <a:pPr marL="0" indent="0">
              <a:buNone/>
              <a:defRPr/>
            </a:pPr>
            <a:endParaRPr lang="en-US" sz="2400"/>
          </a:p>
        </p:txBody>
      </p:sp>
      <p:pic>
        <p:nvPicPr>
          <p:cNvPr id="39" name="Рисунок 38" descr="\documentclass{article}&#10;\usepackage{amsmath}&#10;\pagestyle{empty}&#10;\begin{document}&#10;&#10;\begin{equation*}&#10;\frac{d}{dt} \frac{\partial L}{\partial \dot{x}} = m \ddot{x},&#10;\end{equation*}&#10;&#10;&#10;\end{document}" title="IguanaTex Bitmap Display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459051" y="2267840"/>
            <a:ext cx="1403882" cy="543295"/>
          </a:xfrm>
          <a:prstGeom prst="rect">
            <a:avLst/>
          </a:prstGeom>
        </p:spPr>
      </p:pic>
      <p:pic>
        <p:nvPicPr>
          <p:cNvPr id="7" name="Рисунок 6" descr="\documentclass{article}&#10;\usepackage{amsmath}&#10;\pagestyle{empty}&#10;\begin{document}&#10;&#10;\begin{equation*}&#10;\frac{\partial L}{\partial \dot{x}} = m \dot{x},&#10;\end{equation*}&#10;&#10;&#10;\end{document}" title="IguanaTex Bitmap Display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58387" y="1517892"/>
            <a:ext cx="1119533" cy="546285"/>
          </a:xfrm>
          <a:prstGeom prst="rect">
            <a:avLst/>
          </a:prstGeom>
        </p:spPr>
      </p:pic>
      <p:pic>
        <p:nvPicPr>
          <p:cNvPr id="23" name="Рисунок 22" descr="\documentclass{article}&#10;\usepackage{amsmath}&#10;\pagestyle{empty}&#10;\begin{document}&#10;&#10;\begin{equation*}&#10;\frac{\partial L}{\partial x} = 0,&#10;\end{equation*}&#10;&#10;&#10;\end{document}" title="IguanaTex Bitmap Display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252306" y="1517892"/>
            <a:ext cx="876223" cy="544788"/>
          </a:xfrm>
          <a:prstGeom prst="rect">
            <a:avLst/>
          </a:prstGeom>
        </p:spPr>
      </p:pic>
      <p:pic>
        <p:nvPicPr>
          <p:cNvPr id="9" name="Рисунок 8" descr="\documentclass{article}&#10;\usepackage{amsmath}&#10;\pagestyle{empty}&#10;\begin{document}&#10;&#10;\begin{equation*}&#10;\frac{\partial L}{\partial \dot{y}} = m \dot{y},&#10;\end{equation*}&#10;&#10;&#10;\end{document}" title="IguanaTex Bitmap Display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3364080" y="1517894"/>
            <a:ext cx="1108397" cy="591335"/>
          </a:xfrm>
          <a:prstGeom prst="rect">
            <a:avLst/>
          </a:prstGeom>
        </p:spPr>
      </p:pic>
      <p:pic>
        <p:nvPicPr>
          <p:cNvPr id="29" name="Рисунок 28" descr="\documentclass{article}&#10;\usepackage{amsmath}&#10;\pagestyle{empty}&#10;\begin{document}&#10;&#10;\begin{equation*}&#10;\frac{\partial L}{\partial y} = -m g,&#10;\end{equation*}&#10;&#10;&#10;\end{document}" title="IguanaTex Bitmap Display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4985566" y="1517893"/>
            <a:ext cx="1301872" cy="590888"/>
          </a:xfrm>
          <a:prstGeom prst="rect">
            <a:avLst/>
          </a:prstGeom>
        </p:spPr>
      </p:pic>
      <p:pic>
        <p:nvPicPr>
          <p:cNvPr id="32" name="Рисунок 31" descr="\documentclass{article}&#10;\usepackage{amsmath}&#10;\pagestyle{empty}&#10;\begin{document}&#10;&#10;\begin{equation*}&#10;\frac{\partial f}{\partial x} = 2x,&#10;\end{equation*}&#10;&#10;&#10;\end{document}" title="IguanaTex Bitmap Display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6603555" y="1517275"/>
            <a:ext cx="1000959" cy="544528"/>
          </a:xfrm>
          <a:prstGeom prst="rect">
            <a:avLst/>
          </a:prstGeom>
        </p:spPr>
      </p:pic>
      <p:pic>
        <p:nvPicPr>
          <p:cNvPr id="35" name="Рисунок 34" descr="\documentclass{article}&#10;\usepackage{amsmath}&#10;\pagestyle{empty}&#10;\begin{document}&#10;&#10;\begin{equation*}&#10;\frac{\partial f}{\partial y} = 2y,&#10;\end{equation*}&#10;&#10;&#10;\end{document}" title="IguanaTex Bitmap Display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7828358" y="1516660"/>
            <a:ext cx="991567" cy="592961"/>
          </a:xfrm>
          <a:prstGeom prst="rect">
            <a:avLst/>
          </a:prstGeom>
        </p:spPr>
      </p:pic>
      <p:pic>
        <p:nvPicPr>
          <p:cNvPr id="44" name="Рисунок 43" descr="\documentclass{article}&#10;\usepackage{amsmath}&#10;\pagestyle{empty}&#10;\begin{document}&#10;&#10;\begin{equation*}&#10;\frac{d}{dt} \frac{\partial L}{\partial \dot{y}} = m \ddot{y}.&#10;\end{equation*}&#10;&#10;&#10;\end{document}" title="IguanaTex Bitmap Display"/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>
            <a:off x="5281070" y="2267840"/>
            <a:ext cx="1391217" cy="592065"/>
          </a:xfrm>
          <a:prstGeom prst="rect">
            <a:avLst/>
          </a:prstGeom>
        </p:spPr>
      </p:pic>
      <p:pic>
        <p:nvPicPr>
          <p:cNvPr id="48" name="Рисунок 47" descr="\documentclass{article}&#10;\usepackage{amsmath}&#10;\pagestyle{empty}&#10;\begin{document}&#10;&#10;&#10;$m\ddot{x}=\lambda\cdot2x$,&#10;&#10;\end{document}" title="IguanaTex Bitmap Display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>
            <a:off x="3895742" y="3678747"/>
            <a:ext cx="1352516" cy="225902"/>
          </a:xfrm>
          <a:prstGeom prst="rect">
            <a:avLst/>
          </a:prstGeom>
        </p:spPr>
      </p:pic>
      <p:pic>
        <p:nvPicPr>
          <p:cNvPr id="53" name="Рисунок 52" descr="\documentclass{article}&#10;\usepackage{amsmath}&#10;\pagestyle{empty}&#10;\begin{document}&#10;&#10;&#10;$m\ddot{y}=-mg + \lambda\cdot2y$.&#10;&#10;\end{document}" title="IguanaTex Bitmap Display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>
            <a:off x="3479342" y="3992085"/>
            <a:ext cx="2185317" cy="2304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28650" y="365127"/>
            <a:ext cx="7886700" cy="540038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ru-RU"/>
              <a:t>Алгоритм решения. Пример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28650" y="905165"/>
            <a:ext cx="7886700" cy="5365733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 startAt="4"/>
              <a:defRPr/>
            </a:pPr>
            <a:r>
              <a:rPr lang="ru-RU" sz="2400"/>
              <a:t>Находим вторую производную связи по времени:</a:t>
            </a:r>
            <a:endParaRPr lang="en-US" sz="2400"/>
          </a:p>
          <a:p>
            <a:pPr marL="457200" indent="-457200">
              <a:buFont typeface="+mj-lt"/>
              <a:buAutoNum type="arabicPeriod" startAt="4"/>
              <a:defRPr/>
            </a:pPr>
            <a:endParaRPr lang="en-US" sz="2400"/>
          </a:p>
          <a:p>
            <a:pPr marL="457200" indent="-457200">
              <a:buFont typeface="+mj-lt"/>
              <a:buAutoNum type="arabicPeriod" startAt="4"/>
              <a:defRPr/>
            </a:pPr>
            <a:endParaRPr lang="en-US" sz="2400"/>
          </a:p>
          <a:p>
            <a:pPr marL="457200" indent="-457200">
              <a:buFont typeface="+mj-lt"/>
              <a:buAutoNum type="arabicPeriod" startAt="4"/>
              <a:defRPr/>
            </a:pPr>
            <a:endParaRPr lang="en-US" sz="2400"/>
          </a:p>
          <a:p>
            <a:pPr marL="457200" indent="-457200">
              <a:buFont typeface="+mj-lt"/>
              <a:buAutoNum type="arabicPeriod" startAt="4"/>
              <a:defRPr/>
            </a:pPr>
            <a:endParaRPr lang="en-US" sz="2400"/>
          </a:p>
          <a:p>
            <a:pPr marL="457200" indent="-457200">
              <a:buFont typeface="+mj-lt"/>
              <a:buAutoNum type="arabicPeriod" startAt="4"/>
              <a:defRPr/>
            </a:pPr>
            <a:r>
              <a:rPr lang="ru-RU" sz="2400"/>
              <a:t>Выражаем </a:t>
            </a:r>
            <a:r>
              <a:rPr lang="en-US" sz="2400"/>
              <a:t>      </a:t>
            </a:r>
            <a:r>
              <a:rPr lang="ru-RU" sz="2400"/>
              <a:t>и     из уравнений движения, полученных в п. 3 и подставляем в      (далее работаем с системой без трения, сразу примем, что </a:t>
            </a:r>
            <a:r>
              <a:rPr lang="en-US" sz="2400"/>
              <a:t>m</a:t>
            </a:r>
            <a:r>
              <a:rPr lang="ru-RU" sz="2400"/>
              <a:t>=1)</a:t>
            </a:r>
            <a:r>
              <a:rPr lang="en-US" sz="2400"/>
              <a:t>:</a:t>
            </a:r>
            <a:endParaRPr/>
          </a:p>
          <a:p>
            <a:pPr marL="457200" indent="-457200">
              <a:buFont typeface="+mj-lt"/>
              <a:buAutoNum type="arabicPeriod" startAt="4"/>
              <a:defRPr/>
            </a:pPr>
            <a:endParaRPr lang="ru-RU" sz="2400"/>
          </a:p>
          <a:p>
            <a:pPr marL="457200" indent="-457200">
              <a:buFont typeface="+mj-lt"/>
              <a:buAutoNum type="arabicPeriod" startAt="4"/>
              <a:defRPr/>
            </a:pPr>
            <a:r>
              <a:rPr lang="ru-RU" sz="2400"/>
              <a:t>Выражаем неопределенный множитель</a:t>
            </a:r>
            <a:r>
              <a:rPr lang="en-US" sz="2400"/>
              <a:t>     :</a:t>
            </a:r>
            <a:r>
              <a:rPr lang="ru-RU" sz="2400"/>
              <a:t> </a:t>
            </a:r>
            <a:endParaRPr/>
          </a:p>
          <a:p>
            <a:pPr marL="457200" indent="-457200">
              <a:buFont typeface="+mj-lt"/>
              <a:buAutoNum type="arabicPeriod" startAt="4"/>
              <a:defRPr/>
            </a:pPr>
            <a:endParaRPr lang="ru-RU" sz="2400"/>
          </a:p>
          <a:p>
            <a:pPr marL="457200" indent="-457200">
              <a:buFont typeface="+mj-lt"/>
              <a:buAutoNum type="arabicPeriod" startAt="4"/>
              <a:defRPr/>
            </a:pPr>
            <a:endParaRPr lang="ru-RU" sz="2400"/>
          </a:p>
          <a:p>
            <a:pPr marL="457200" indent="-457200">
              <a:buFont typeface="+mj-lt"/>
              <a:buAutoNum type="arabicPeriod" startAt="4"/>
              <a:defRPr/>
            </a:pPr>
            <a:endParaRPr lang="ru-RU" sz="2400"/>
          </a:p>
          <a:p>
            <a:pPr marL="0" indent="0">
              <a:buNone/>
              <a:defRPr/>
            </a:pPr>
            <a:endParaRPr lang="en-US" sz="2400"/>
          </a:p>
          <a:p>
            <a:pPr marL="0" indent="0">
              <a:buNone/>
              <a:defRPr/>
            </a:pPr>
            <a:endParaRPr lang="en-US" sz="2400"/>
          </a:p>
        </p:txBody>
      </p:sp>
      <p:pic>
        <p:nvPicPr>
          <p:cNvPr id="6" name="Рисунок 5" descr="\documentclass{article}&#10;\usepackage{amsmath}&#10;\pagestyle{empty}&#10;\begin{document}&#10;&#10;$f=x^2+y^2-l^2=0$,&#10;&#10;&#10;\end{document}" title="IguanaTex Bitmap Display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448190" y="1545477"/>
            <a:ext cx="2309024" cy="261524"/>
          </a:xfrm>
          <a:prstGeom prst="rect">
            <a:avLst/>
          </a:prstGeom>
        </p:spPr>
      </p:pic>
      <p:pic>
        <p:nvPicPr>
          <p:cNvPr id="7" name="Рисунок 6" descr="\documentclass{article}&#10;\usepackage{amsmath}&#10;\pagestyle{empty}&#10;\begin{document}&#10;&#10;$\dot{f}=2x\dot{x}+2y\dot{y}=0$,&#10;&#10;&#10;\end{document}" title="IguanaTex Bitmap Display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517317" y="2032724"/>
            <a:ext cx="2109366" cy="289053"/>
          </a:xfrm>
          <a:prstGeom prst="rect">
            <a:avLst/>
          </a:prstGeom>
        </p:spPr>
      </p:pic>
      <p:pic>
        <p:nvPicPr>
          <p:cNvPr id="11" name="Рисунок 10" descr="\documentclass{article}&#10;\usepackage{amsmath}&#10;\pagestyle{empty}&#10;\begin{document}&#10;&#10;$\ddot{f}=2(\dot{x}^2+\dot{y}^2) + 2x\ddot{x} + 2y\ddot{y}=0$,&#10;&#10;&#10;\end{document}" title="IguanaTex Bitmap Display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792635" y="2576870"/>
            <a:ext cx="3559810" cy="304360"/>
          </a:xfrm>
          <a:prstGeom prst="rect">
            <a:avLst/>
          </a:prstGeom>
        </p:spPr>
      </p:pic>
      <p:pic>
        <p:nvPicPr>
          <p:cNvPr id="25" name="Рисунок 24" descr="\documentclass{article}&#10;\usepackage{amsmath}&#10;\pagestyle{empty}&#10;\begin{document}&#10;&#10;&#10;$\ddot{x}$&#10;&#10;\end{document}" title="IguanaTex Bitmap Display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2735216" y="3281971"/>
            <a:ext cx="154678" cy="207702"/>
          </a:xfrm>
          <a:prstGeom prst="rect">
            <a:avLst/>
          </a:prstGeom>
        </p:spPr>
      </p:pic>
      <p:pic>
        <p:nvPicPr>
          <p:cNvPr id="26" name="Рисунок 25" descr="\documentclass{article}&#10;\usepackage{amsmath}&#10;\pagestyle{empty}&#10;\begin{document}&#10;&#10;&#10;$\ddot{y}$&#10;&#10;\end{document}" title="IguanaTex Bitmap Display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3304560" y="3281971"/>
            <a:ext cx="143630" cy="266520"/>
          </a:xfrm>
          <a:prstGeom prst="rect">
            <a:avLst/>
          </a:prstGeom>
        </p:spPr>
      </p:pic>
      <p:pic>
        <p:nvPicPr>
          <p:cNvPr id="28" name="Рисунок 27" descr="\documentclass{article}&#10;\usepackage{amsmath}&#10;\pagestyle{empty}&#10;\begin{document}&#10;&#10;&#10;$\ddot{f}$&#10;&#10;\end{document}" title="IguanaTex Bitmap Display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4194639" y="3548491"/>
            <a:ext cx="171885" cy="345600"/>
          </a:xfrm>
          <a:prstGeom prst="rect">
            <a:avLst/>
          </a:prstGeom>
        </p:spPr>
      </p:pic>
      <p:pic>
        <p:nvPicPr>
          <p:cNvPr id="13" name="Рисунок 12" descr="\documentclass{article}&#10;\usepackage{amsmath}&#10;\pagestyle{empty}&#10;\begin{document}&#10;&#10;$(\dot{x}^2+\dot{y}^2) + x(2x\lambda) + y(-g+2y\lambda)=0$.&#10;&#10;&#10;\end{document}" title="IguanaTex Bitmap Display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2443555" y="4400149"/>
            <a:ext cx="4256890" cy="277927"/>
          </a:xfrm>
          <a:prstGeom prst="rect">
            <a:avLst/>
          </a:prstGeom>
        </p:spPr>
      </p:pic>
      <p:pic>
        <p:nvPicPr>
          <p:cNvPr id="15" name="Рисунок 14" descr="\documentclass{article}&#10;\usepackage{amsmath}&#10;\pagestyle{empty}&#10;\begin{document}&#10;&#10;&#10;$\lambda$&#10;&#10;\end{document}" title="IguanaTex Bitmap Display"/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>
            <a:off x="6548674" y="4834628"/>
            <a:ext cx="151771" cy="213943"/>
          </a:xfrm>
          <a:prstGeom prst="rect">
            <a:avLst/>
          </a:prstGeom>
        </p:spPr>
      </p:pic>
      <p:pic>
        <p:nvPicPr>
          <p:cNvPr id="24" name="Рисунок 23" descr="\documentclass{article}&#10;\usepackage{amsmath}&#10;\pagestyle{empty}&#10;\begin{document}&#10;&#10;$\lambda = \dfrac{yg-\dot{x}^2-\dot{y}^2}{2(x^2+y^2)}$.&#10;&#10;&#10;\end{document}" title="IguanaTex Bitmap Display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>
            <a:off x="3585240" y="5321407"/>
            <a:ext cx="1973520" cy="6314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28650" y="365127"/>
            <a:ext cx="7886700" cy="540038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ru-RU"/>
              <a:t>Алгоритм решения. Пример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28649" y="1094218"/>
            <a:ext cx="7886700" cy="5365733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 startAt="6"/>
              <a:defRPr/>
            </a:pPr>
            <a:r>
              <a:rPr lang="ru-RU" sz="2400"/>
              <a:t>Подставляем      в уравнения движения и </a:t>
            </a:r>
            <a:r>
              <a:rPr lang="ru-RU" sz="2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добавляем вязкое трение, получаем</a:t>
            </a:r>
            <a:r>
              <a:rPr lang="ru-RU" sz="2400"/>
              <a:t>:</a:t>
            </a:r>
            <a:endParaRPr lang="en-US" sz="2400"/>
          </a:p>
          <a:p>
            <a:pPr marL="457200" indent="-457200">
              <a:buFont typeface="+mj-lt"/>
              <a:buAutoNum type="arabicPeriod" startAt="6"/>
              <a:defRPr/>
            </a:pPr>
            <a:endParaRPr lang="en-US" sz="2400"/>
          </a:p>
          <a:p>
            <a:pPr marL="457200" indent="-457200">
              <a:buFont typeface="+mj-lt"/>
              <a:buAutoNum type="arabicPeriod" startAt="6"/>
              <a:defRPr/>
            </a:pPr>
            <a:endParaRPr lang="en-US" sz="2400"/>
          </a:p>
          <a:p>
            <a:pPr marL="457200" indent="-457200">
              <a:buFont typeface="+mj-lt"/>
              <a:buAutoNum type="arabicPeriod" startAt="6"/>
              <a:defRPr/>
            </a:pPr>
            <a:endParaRPr lang="en-US" sz="2400"/>
          </a:p>
          <a:p>
            <a:pPr marL="457200" indent="-457200">
              <a:buFont typeface="+mj-lt"/>
              <a:buAutoNum type="arabicPeriod" startAt="6"/>
              <a:defRPr/>
            </a:pPr>
            <a:endParaRPr lang="en-US" sz="2400"/>
          </a:p>
          <a:p>
            <a:pPr marL="457200" indent="-457200">
              <a:buFont typeface="+mj-lt"/>
              <a:buAutoNum type="arabicPeriod" startAt="6"/>
              <a:defRPr/>
            </a:pPr>
            <a:endParaRPr lang="en-US" sz="2400"/>
          </a:p>
          <a:p>
            <a:pPr marL="457200" indent="-457200">
              <a:buFont typeface="+mj-lt"/>
              <a:buAutoNum type="arabicPeriod" startAt="6"/>
              <a:defRPr/>
            </a:pPr>
            <a:r>
              <a:rPr lang="ru-RU" sz="2400"/>
              <a:t>Решаем уравнения численным методом…</a:t>
            </a:r>
            <a:endParaRPr lang="en-US" sz="2400"/>
          </a:p>
          <a:p>
            <a:pPr marL="457200" indent="-457200">
              <a:buFont typeface="+mj-lt"/>
              <a:buAutoNum type="arabicPeriod" startAt="6"/>
              <a:defRPr/>
            </a:pPr>
            <a:endParaRPr lang="ru-RU" sz="2400"/>
          </a:p>
          <a:p>
            <a:pPr marL="0" indent="0">
              <a:buNone/>
              <a:defRPr/>
            </a:pPr>
            <a:r>
              <a:rPr lang="ru-RU" sz="2400"/>
              <a:t> </a:t>
            </a:r>
            <a:endParaRPr lang="en-US" sz="2400"/>
          </a:p>
          <a:p>
            <a:pPr marL="457200" indent="-457200">
              <a:buFont typeface="+mj-lt"/>
              <a:buAutoNum type="arabicPeriod" startAt="4"/>
              <a:defRPr/>
            </a:pPr>
            <a:endParaRPr lang="en-US" sz="2400"/>
          </a:p>
          <a:p>
            <a:pPr marL="457200" indent="-457200">
              <a:buFont typeface="+mj-lt"/>
              <a:buAutoNum type="arabicPeriod" startAt="4"/>
              <a:defRPr/>
            </a:pPr>
            <a:endParaRPr lang="ru-RU" sz="2400"/>
          </a:p>
          <a:p>
            <a:pPr marL="457200" indent="-457200">
              <a:buFont typeface="+mj-lt"/>
              <a:buAutoNum type="arabicPeriod" startAt="4"/>
              <a:defRPr/>
            </a:pPr>
            <a:endParaRPr lang="ru-RU" sz="2400"/>
          </a:p>
          <a:p>
            <a:pPr marL="0" indent="0">
              <a:buNone/>
              <a:defRPr/>
            </a:pPr>
            <a:endParaRPr lang="en-US" sz="2400"/>
          </a:p>
          <a:p>
            <a:pPr marL="0" indent="0">
              <a:buNone/>
              <a:defRPr/>
            </a:pPr>
            <a:endParaRPr lang="en-US" sz="2400"/>
          </a:p>
        </p:txBody>
      </p:sp>
      <p:pic>
        <p:nvPicPr>
          <p:cNvPr id="15" name="Рисунок 14" descr="\documentclass{article}&#10;\usepackage{amsmath}&#10;\pagestyle{empty}&#10;\begin{document}&#10;&#10;&#10;$\lambda$&#10;&#10;\end{document}" title="IguanaTex Bitmap Display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054975" y="1166025"/>
            <a:ext cx="151771" cy="213943"/>
          </a:xfrm>
          <a:prstGeom prst="rect">
            <a:avLst/>
          </a:prstGeom>
        </p:spPr>
      </p:pic>
      <p:pic>
        <p:nvPicPr>
          <p:cNvPr id="5" name="Рисунок 4" descr="\documentclass{article}&#10;\usepackage{amsmath}&#10;\pagestyle{empty}&#10;\begin{document}&#10;&#10;$m\ddot{x} = -\dfrac{x(\dot{x}^2+\dot{y}^2-yg)}{x^2+y^2} - c \dot{x}$,&#10;&#10;&#10;\end{document}" title="IguanaTex Bitmap Display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916954" y="2036002"/>
            <a:ext cx="3310089" cy="621899"/>
          </a:xfrm>
          <a:prstGeom prst="rect">
            <a:avLst/>
          </a:prstGeom>
        </p:spPr>
      </p:pic>
      <p:pic>
        <p:nvPicPr>
          <p:cNvPr id="8" name="Рисунок 7" descr="\documentclass{article}&#10;\usepackage{amsmath}&#10;\pagestyle{empty}&#10;\begin{document}&#10;&#10;$m\ddot{y} = -\dfrac{y(\dot{x}^2+\dot{y}^2-yg)}{x^2+y^2}-mg - c \dot{y}$.&#10;&#10;&#10;\end{document}" title="IguanaTex Bitmap Display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602589" y="2885495"/>
            <a:ext cx="3938818" cy="62488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28650" y="365127"/>
            <a:ext cx="7886700" cy="985304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ru-RU"/>
              <a:t>Численные методы решения системы ОДУ. Метод Эйлера.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28650" y="1492268"/>
            <a:ext cx="8101282" cy="5000606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  <a:defRPr/>
            </a:pPr>
            <a:r>
              <a:rPr lang="ru-RU" sz="2400"/>
              <a:t>Рассмотрим первое уравнение и представим его в виде:</a:t>
            </a:r>
            <a:endParaRPr/>
          </a:p>
          <a:p>
            <a:pPr marL="457200" indent="-457200">
              <a:buFont typeface="+mj-lt"/>
              <a:buAutoNum type="arabicPeriod"/>
              <a:defRPr/>
            </a:pPr>
            <a:endParaRPr lang="ru-RU" sz="2400"/>
          </a:p>
          <a:p>
            <a:pPr marL="457200" indent="-457200">
              <a:buFont typeface="+mj-lt"/>
              <a:buAutoNum type="arabicPeriod"/>
              <a:defRPr/>
            </a:pPr>
            <a:r>
              <a:rPr lang="ru-RU" sz="2400"/>
              <a:t>Перейдем к дискретному виду:</a:t>
            </a:r>
            <a:endParaRPr lang="en-US" sz="2400"/>
          </a:p>
          <a:p>
            <a:pPr marL="457200" indent="-457200">
              <a:buFont typeface="+mj-lt"/>
              <a:buAutoNum type="arabicPeriod"/>
              <a:defRPr/>
            </a:pPr>
            <a:endParaRPr lang="en-US" sz="2400"/>
          </a:p>
          <a:p>
            <a:pPr marL="457200" indent="-457200">
              <a:buFont typeface="+mj-lt"/>
              <a:buAutoNum type="arabicPeriod"/>
              <a:defRPr/>
            </a:pPr>
            <a:endParaRPr lang="en-US" sz="2400"/>
          </a:p>
          <a:p>
            <a:pPr marL="457200" indent="-457200">
              <a:buFont typeface="+mj-lt"/>
              <a:buAutoNum type="arabicPeriod"/>
              <a:defRPr/>
            </a:pPr>
            <a:r>
              <a:rPr lang="ru-RU" sz="2400"/>
              <a:t>Аналогично считаем </a:t>
            </a:r>
            <a:endParaRPr lang="en-US" sz="2400"/>
          </a:p>
          <a:p>
            <a:pPr marL="457200" indent="-457200">
              <a:buFont typeface="+mj-lt"/>
              <a:buAutoNum type="arabicPeriod"/>
              <a:defRPr/>
            </a:pPr>
            <a:r>
              <a:rPr lang="ru-RU" sz="2400"/>
              <a:t>Для расчета </a:t>
            </a:r>
            <a:r>
              <a:rPr lang="en-US" sz="2400">
                <a:latin typeface="CMU Classical Serif"/>
                <a:ea typeface="CMU Classical Serif"/>
                <a:cs typeface="CMU Classical Serif"/>
              </a:rPr>
              <a:t>x</a:t>
            </a:r>
            <a:r>
              <a:rPr lang="en-US" sz="2400"/>
              <a:t> </a:t>
            </a:r>
            <a:r>
              <a:rPr lang="ru-RU" sz="2400"/>
              <a:t>воспользуемся следующим выражением:</a:t>
            </a:r>
            <a:endParaRPr lang="en-US" sz="2400"/>
          </a:p>
          <a:p>
            <a:pPr marL="457200" indent="-457200">
              <a:buFont typeface="+mj-lt"/>
              <a:buAutoNum type="arabicPeriod"/>
              <a:defRPr/>
            </a:pPr>
            <a:endParaRPr lang="en-US" sz="2400"/>
          </a:p>
          <a:p>
            <a:pPr marL="457200" indent="-457200">
              <a:buFont typeface="+mj-lt"/>
              <a:buAutoNum type="arabicPeriod"/>
              <a:defRPr/>
            </a:pPr>
            <a:endParaRPr lang="en-US" sz="2400"/>
          </a:p>
          <a:p>
            <a:pPr marL="457200" indent="-457200">
              <a:buFont typeface="+mj-lt"/>
              <a:buAutoNum type="arabicPeriod"/>
              <a:defRPr/>
            </a:pPr>
            <a:endParaRPr lang="en-US" sz="2400"/>
          </a:p>
          <a:p>
            <a:pPr marL="457200" indent="-457200">
              <a:buFont typeface="+mj-lt"/>
              <a:buAutoNum type="arabicPeriod"/>
              <a:defRPr/>
            </a:pPr>
            <a:r>
              <a:rPr lang="ru-RU" sz="2400"/>
              <a:t>Аналогично считаем </a:t>
            </a:r>
            <a:endParaRPr/>
          </a:p>
          <a:p>
            <a:pPr marL="0" indent="0">
              <a:buNone/>
              <a:defRPr/>
            </a:pPr>
            <a:endParaRPr lang="en-US" sz="2400"/>
          </a:p>
          <a:p>
            <a:pPr marL="0" indent="0">
              <a:buNone/>
              <a:defRPr/>
            </a:pPr>
            <a:endParaRPr lang="en-US" sz="2400"/>
          </a:p>
        </p:txBody>
      </p:sp>
      <p:pic>
        <p:nvPicPr>
          <p:cNvPr id="5" name="Рисунок 4" descr="\documentclass{article}&#10;\usepackage{amsmath}&#10;\pagestyle{empty}&#10;\begin{document}&#10;&#10;$\ddot{x} = F(x,y,\dot{x}, \dot{y})$.&#10;&#10;&#10;\end{document}" title="IguanaTex Bitmap Display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662643" y="1998044"/>
            <a:ext cx="1818713" cy="261605"/>
          </a:xfrm>
          <a:prstGeom prst="rect">
            <a:avLst/>
          </a:prstGeom>
        </p:spPr>
      </p:pic>
      <p:pic>
        <p:nvPicPr>
          <p:cNvPr id="27" name="Рисунок 26" descr="\documentclass{article}&#10;\usepackage{amsmath}&#10;\pagestyle{empty}&#10;\begin{document}&#10;&#10;$\ddot{x} = \dfrac{d\dot{x}}{dt} = \dfrac{\Delta\dot{x}}{\Delta t} = \dfrac{\dot{x}_{n+1} - \dot{x}_n}{\Delta t}  \quad \Rightarrow \quad \dot{x}_{n+1} = F(x_n,y_n,\dot{x}_n, \dot{y}_n)\cdot\Delta t + \dot{x}_n$;&#10;&#10;&#10;\end{document}" title="IguanaTex Bitmap Display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28650" y="2973698"/>
            <a:ext cx="7875316" cy="547802"/>
          </a:xfrm>
          <a:prstGeom prst="rect">
            <a:avLst/>
          </a:prstGeom>
        </p:spPr>
      </p:pic>
      <p:pic>
        <p:nvPicPr>
          <p:cNvPr id="25" name="Рисунок 24" descr="\documentclass{article}&#10;\usepackage{amsmath}&#10;\pagestyle{empty}&#10;\begin{document}&#10;&#10;$\dot{y}_{n+1}$&#10;&#10;&#10;\end{document}" title="IguanaTex Bitmap Display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994171" y="3837006"/>
            <a:ext cx="577829" cy="274286"/>
          </a:xfrm>
          <a:prstGeom prst="rect">
            <a:avLst/>
          </a:prstGeom>
        </p:spPr>
      </p:pic>
      <p:pic>
        <p:nvPicPr>
          <p:cNvPr id="37" name="Рисунок 36" descr="\documentclass{article}&#10;\usepackage{amsmath}&#10;\pagestyle{empty}&#10;\begin{document}&#10;&#10;$\dot{x} = \dfrac{dx}{dt} = \dfrac{\Delta{x}}{\Delta t} = \dfrac{{x}_{n+1} - {x}_n}{\Delta t}  \quad \Rightarrow \quad {x}_{n+1} = \dot{x}_n\cdot\Delta t + {x}_n$;&#10;&#10;&#10;\end{document}" title="IguanaTex Bitmap Display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408312" y="5364534"/>
            <a:ext cx="6327375" cy="549178"/>
          </a:xfrm>
          <a:prstGeom prst="rect">
            <a:avLst/>
          </a:prstGeom>
        </p:spPr>
      </p:pic>
      <p:pic>
        <p:nvPicPr>
          <p:cNvPr id="35" name="Рисунок 34" descr="\documentclass{article}&#10;\usepackage{amsmath}&#10;\pagestyle{empty}&#10;\begin{document}&#10;&#10;$\dot{x} = \dfrac{dx}{dt} $,&#10;&#10;&#10;\end{document}" title="IguanaTex Bitmap Display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4130917" y="4731507"/>
            <a:ext cx="870782" cy="542847"/>
          </a:xfrm>
          <a:prstGeom prst="rect">
            <a:avLst/>
          </a:prstGeom>
        </p:spPr>
      </p:pic>
      <p:pic>
        <p:nvPicPr>
          <p:cNvPr id="40" name="Рисунок 39" descr="\documentclass{article}&#10;\usepackage{amsmath}&#10;\pagestyle{empty}&#10;\begin{document}&#10;&#10;${y}_{n+1}$&#10;&#10;&#10;\end{document}" title="IguanaTex Bitmap Display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3994171" y="6180166"/>
            <a:ext cx="580205" cy="20568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28650" y="365127"/>
            <a:ext cx="7886700" cy="422910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3200"/>
              <a:t>Симметричная схема. Метод Хьюна.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28650" y="928697"/>
            <a:ext cx="8101282" cy="5000606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  <a:defRPr/>
            </a:pPr>
            <a:r>
              <a:rPr lang="ru-RU" sz="2400"/>
              <a:t>Рассмотрим первое уравнение и представим его в виде:</a:t>
            </a:r>
            <a:endParaRPr/>
          </a:p>
          <a:p>
            <a:pPr marL="457200" indent="-457200">
              <a:buFont typeface="+mj-lt"/>
              <a:buAutoNum type="arabicPeriod"/>
              <a:defRPr/>
            </a:pPr>
            <a:endParaRPr lang="ru-RU" sz="2400"/>
          </a:p>
          <a:p>
            <a:pPr marL="457200" indent="-457200">
              <a:buFont typeface="+mj-lt"/>
              <a:buAutoNum type="arabicPeriod"/>
              <a:defRPr/>
            </a:pPr>
            <a:r>
              <a:rPr lang="ru-RU" sz="2400"/>
              <a:t>Введем обозначение:</a:t>
            </a:r>
            <a:endParaRPr lang="en-US" sz="2400"/>
          </a:p>
          <a:p>
            <a:pPr marL="457200" indent="-457200">
              <a:buFont typeface="+mj-lt"/>
              <a:buAutoNum type="arabicPeriod"/>
              <a:defRPr/>
            </a:pPr>
            <a:r>
              <a:rPr lang="ru-RU" sz="2400"/>
              <a:t>В методе Эйлера было:</a:t>
            </a:r>
            <a:endParaRPr lang="en-US" sz="2400"/>
          </a:p>
          <a:p>
            <a:pPr marL="457200" indent="-457200">
              <a:buFont typeface="+mj-lt"/>
              <a:buAutoNum type="arabicPeriod"/>
              <a:defRPr/>
            </a:pPr>
            <a:endParaRPr lang="en-US" sz="2400"/>
          </a:p>
          <a:p>
            <a:pPr marL="457200" indent="-457200">
              <a:buFont typeface="+mj-lt"/>
              <a:buAutoNum type="arabicPeriod"/>
              <a:defRPr/>
            </a:pPr>
            <a:r>
              <a:rPr lang="ru-RU" sz="2400"/>
              <a:t>В</a:t>
            </a:r>
            <a:r>
              <a:rPr lang="en-US" sz="2400"/>
              <a:t> </a:t>
            </a:r>
            <a:r>
              <a:rPr lang="ru-RU" sz="2400"/>
              <a:t>методе Хьюна: </a:t>
            </a:r>
            <a:endParaRPr/>
          </a:p>
          <a:p>
            <a:pPr marL="457200" indent="-457200">
              <a:buFont typeface="+mj-lt"/>
              <a:buAutoNum type="arabicPeriod"/>
              <a:defRPr/>
            </a:pPr>
            <a:r>
              <a:rPr lang="ru-RU" sz="2400"/>
              <a:t>Тогда:</a:t>
            </a:r>
            <a:endParaRPr lang="en-US" sz="2400"/>
          </a:p>
          <a:p>
            <a:pPr marL="457200" indent="-457200">
              <a:buFont typeface="+mj-lt"/>
              <a:buAutoNum type="arabicPeriod"/>
              <a:defRPr/>
            </a:pPr>
            <a:endParaRPr lang="en-US" sz="2400"/>
          </a:p>
          <a:p>
            <a:pPr marL="457200" indent="-457200">
              <a:buFont typeface="+mj-lt"/>
              <a:buAutoNum type="arabicPeriod"/>
              <a:defRPr/>
            </a:pPr>
            <a:r>
              <a:rPr lang="ru-RU" sz="2400"/>
              <a:t>Найдем по методу Эйлера: </a:t>
            </a:r>
            <a:endParaRPr lang="en-US" sz="2400"/>
          </a:p>
          <a:p>
            <a:pPr marL="457200" indent="-457200">
              <a:buFont typeface="+mj-lt"/>
              <a:buAutoNum type="arabicPeriod"/>
              <a:defRPr/>
            </a:pPr>
            <a:r>
              <a:rPr lang="ru-RU" sz="2400"/>
              <a:t>Аналогично считаем</a:t>
            </a:r>
            <a:r>
              <a:rPr lang="en-US" sz="2400"/>
              <a:t>: </a:t>
            </a:r>
            <a:endParaRPr/>
          </a:p>
          <a:p>
            <a:pPr marL="457200" indent="-457200">
              <a:buFont typeface="+mj-lt"/>
              <a:buAutoNum type="arabicPeriod"/>
              <a:defRPr/>
            </a:pPr>
            <a:r>
              <a:rPr lang="ru-RU" sz="2400"/>
              <a:t>С найденными промежуточными значениями можем посчитать </a:t>
            </a:r>
            <a:r>
              <a:rPr lang="en-US" sz="2400">
                <a:latin typeface="CMU Classical Serif"/>
                <a:ea typeface="CMU Classical Serif"/>
                <a:cs typeface="CMU Classical Serif"/>
              </a:rPr>
              <a:t>F</a:t>
            </a:r>
            <a:r>
              <a:rPr lang="en-US" sz="2400" baseline="-25000">
                <a:latin typeface="CMU Classical Serif"/>
                <a:ea typeface="CMU Classical Serif"/>
                <a:cs typeface="CMU Classical Serif"/>
              </a:rPr>
              <a:t>n+1 </a:t>
            </a:r>
            <a:r>
              <a:rPr lang="ru-RU" sz="2400">
                <a:ea typeface="CMU Classical Serif"/>
                <a:cs typeface="CMU Classical Serif"/>
              </a:rPr>
              <a:t>и подставить в </a:t>
            </a:r>
            <a:r>
              <a:rPr lang="en-US" sz="2400">
                <a:ea typeface="CMU Classical Serif"/>
                <a:cs typeface="CMU Classical Serif"/>
              </a:rPr>
              <a:t>       .</a:t>
            </a:r>
            <a:endParaRPr lang="ru-RU" sz="2400">
              <a:ea typeface="CMU Classical Serif"/>
              <a:cs typeface="CMU Classical Serif"/>
            </a:endParaRPr>
          </a:p>
          <a:p>
            <a:pPr marL="0" indent="0">
              <a:buNone/>
              <a:defRPr/>
            </a:pPr>
            <a:endParaRPr lang="en-US" sz="2400"/>
          </a:p>
          <a:p>
            <a:pPr marL="0" indent="0">
              <a:buNone/>
              <a:defRPr/>
            </a:pPr>
            <a:endParaRPr lang="en-US" sz="2400"/>
          </a:p>
        </p:txBody>
      </p:sp>
      <p:pic>
        <p:nvPicPr>
          <p:cNvPr id="5" name="Рисунок 4" descr="\documentclass{article}&#10;\usepackage{amsmath}&#10;\pagestyle{empty}&#10;\begin{document}&#10;&#10;$\ddot{x} = F(x,y,\dot{x}, \dot{y})$.&#10;&#10;&#10;\end{document}" title="IguanaTex Bitmap Display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662643" y="1434473"/>
            <a:ext cx="1818713" cy="261605"/>
          </a:xfrm>
          <a:prstGeom prst="rect">
            <a:avLst/>
          </a:prstGeom>
        </p:spPr>
      </p:pic>
      <p:pic>
        <p:nvPicPr>
          <p:cNvPr id="7" name="Рисунок 6" descr="\documentclass{article}&#10;\usepackage{amsmath}&#10;\pagestyle{empty}&#10;\begin{document}&#10;&#10;$ \dot{x}_{n+1} = 0.5F_{n+1}\Delta t + 0.5F_n\Delta t + \dot{x}_n$;&#10;&#10;&#10;\end{document}" title="IguanaTex Bitmap Display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591777" y="4209441"/>
            <a:ext cx="3960975" cy="252329"/>
          </a:xfrm>
          <a:prstGeom prst="rect">
            <a:avLst/>
          </a:prstGeom>
        </p:spPr>
      </p:pic>
      <p:pic>
        <p:nvPicPr>
          <p:cNvPr id="6" name="Рисунок 5" descr="\documentclass{article}&#10;\usepackage{amsmath}&#10;\pagestyle{empty}&#10;\begin{document}&#10;&#10;$F_n = F(x_n,y_n,\dot{x}_n, \dot{y}_n)$.&#10;&#10;&#10;\end{document}" title="IguanaTex Bitmap Display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387891" y="1923044"/>
            <a:ext cx="2508837" cy="262095"/>
          </a:xfrm>
          <a:prstGeom prst="rect">
            <a:avLst/>
          </a:prstGeom>
        </p:spPr>
      </p:pic>
      <p:pic>
        <p:nvPicPr>
          <p:cNvPr id="8" name="Рисунок 7" descr="\documentclass{article}&#10;\usepackage{amsmath}&#10;\pagestyle{empty}&#10;\begin{document}&#10;&#10;$\dfrac{\Delta\dot{x}}{\Delta t} = F_n$;&#10;&#10;&#10;\end{document}" title="IguanaTex Bitmap Display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4398789" y="2240490"/>
            <a:ext cx="1082567" cy="548260"/>
          </a:xfrm>
          <a:prstGeom prst="rect">
            <a:avLst/>
          </a:prstGeom>
        </p:spPr>
      </p:pic>
      <p:pic>
        <p:nvPicPr>
          <p:cNvPr id="14" name="Рисунок 13" descr="\documentclass{article}&#10;\usepackage{amsmath}&#10;\pagestyle{empty}&#10;\begin{document}&#10;&#10;$\dfrac{\Delta\dot{x}}{\Delta t} = \dfrac{1}{2}(F_n+F_{n+1})$;&#10;&#10;&#10;\end{document}" title="IguanaTex Bitmap Display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3601017" y="3135710"/>
            <a:ext cx="2346606" cy="549178"/>
          </a:xfrm>
          <a:prstGeom prst="rect">
            <a:avLst/>
          </a:prstGeom>
        </p:spPr>
      </p:pic>
      <p:pic>
        <p:nvPicPr>
          <p:cNvPr id="9" name="Рисунок 8" descr="\documentclass{article}&#10;\usepackage{amsmath}&#10;\pagestyle{empty}&#10;\begin{document}&#10;&#10;$ \dot{\tilde{x}}_{n+1} = F_n\Delta t + \dot{x}_n$;&#10;&#10;&#10;\end{document}" title="IguanaTex Bitmap Display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4881555" y="4626280"/>
            <a:ext cx="2132383" cy="305836"/>
          </a:xfrm>
          <a:prstGeom prst="rect">
            <a:avLst/>
          </a:prstGeom>
        </p:spPr>
      </p:pic>
      <p:pic>
        <p:nvPicPr>
          <p:cNvPr id="11" name="Рисунок 10" descr="\documentclass{article}&#10;\usepackage{amsmath}&#10;\pagestyle{empty}&#10;\begin{document}&#10;&#10;$\dot{\tilde{y}}_{n+1}$, $\tilde{x}_{n+1}$, $\tilde{y}_{n+1}$.&#10;&#10;&#10;\end{document}" title="IguanaTex Bitmap Display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4022502" y="5036282"/>
            <a:ext cx="2315725" cy="349793"/>
          </a:xfrm>
          <a:prstGeom prst="rect">
            <a:avLst/>
          </a:prstGeom>
        </p:spPr>
      </p:pic>
      <p:pic>
        <p:nvPicPr>
          <p:cNvPr id="38" name="Рисунок 37" descr="\documentclass{article}&#10;\usepackage{amsmath}&#10;\pagestyle{empty}&#10;\begin{document}&#10;&#10;$(*)$&#10;&#10;&#10;\end{document}" title="IguanaTex Bitmap Display"/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>
            <a:off x="8186207" y="4155365"/>
            <a:ext cx="329143" cy="305371"/>
          </a:xfrm>
          <a:prstGeom prst="rect">
            <a:avLst/>
          </a:prstGeom>
        </p:spPr>
      </p:pic>
      <p:pic>
        <p:nvPicPr>
          <p:cNvPr id="41" name="Рисунок 40" descr="\documentclass{article}&#10;\usepackage{amsmath}&#10;\pagestyle{empty}&#10;\begin{document}&#10;&#10;$(*)$&#10;&#10;&#10;\end{document}" title="IguanaTex Bitmap Display"/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>
            <a:off x="5179287" y="5896138"/>
            <a:ext cx="329143" cy="30537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28650" y="365127"/>
            <a:ext cx="7886700" cy="422910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3200"/>
              <a:t>Метод Рунге-Кутты 4 порядка.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28650" y="928697"/>
            <a:ext cx="8101282" cy="5000606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  <a:defRPr/>
            </a:pPr>
            <a:r>
              <a:rPr lang="ru-RU" sz="2400" dirty="0"/>
              <a:t>Рассмотрим уравнение</a:t>
            </a:r>
            <a:r>
              <a:rPr lang="en-US" sz="2400" dirty="0"/>
              <a:t> (</a:t>
            </a:r>
            <a:r>
              <a:rPr lang="ru-RU" sz="2400" dirty="0"/>
              <a:t>жирным шрифтом обозначены векторные величины) :</a:t>
            </a:r>
            <a:endParaRPr lang="en-US" sz="2400" dirty="0"/>
          </a:p>
          <a:p>
            <a:pPr marL="457200" indent="-457200">
              <a:buFont typeface="+mj-lt"/>
              <a:buAutoNum type="arabicPeriod"/>
              <a:defRPr/>
            </a:pPr>
            <a:endParaRPr lang="en-US" sz="2400" dirty="0"/>
          </a:p>
          <a:p>
            <a:pPr marL="457200" indent="-457200">
              <a:buFont typeface="+mj-lt"/>
              <a:buAutoNum type="arabicPeriod"/>
              <a:defRPr/>
            </a:pPr>
            <a:r>
              <a:rPr lang="ru-RU" sz="2400" dirty="0"/>
              <a:t>Тогда:</a:t>
            </a:r>
            <a:endParaRPr dirty="0"/>
          </a:p>
          <a:p>
            <a:pPr marL="457200" indent="-457200">
              <a:buFont typeface="+mj-lt"/>
              <a:buAutoNum type="arabicPeriod"/>
              <a:defRPr/>
            </a:pPr>
            <a:endParaRPr lang="ru-RU" sz="2400" dirty="0"/>
          </a:p>
          <a:p>
            <a:pPr marL="0" indent="0">
              <a:buNone/>
              <a:defRPr/>
            </a:pPr>
            <a:r>
              <a:rPr lang="en-US" sz="2400" dirty="0"/>
              <a:t>      </a:t>
            </a:r>
            <a:r>
              <a:rPr lang="ru-RU" sz="2400" dirty="0"/>
              <a:t>где:</a:t>
            </a:r>
            <a:endParaRPr dirty="0"/>
          </a:p>
          <a:p>
            <a:pPr marL="457200" indent="-457200">
              <a:buFont typeface="+mj-lt"/>
              <a:buAutoNum type="arabicPeriod"/>
              <a:defRPr/>
            </a:pPr>
            <a:endParaRPr lang="ru-RU" sz="2400" dirty="0"/>
          </a:p>
          <a:p>
            <a:pPr marL="457200" indent="-457200">
              <a:buFont typeface="+mj-lt"/>
              <a:buAutoNum type="arabicPeriod"/>
              <a:defRPr/>
            </a:pPr>
            <a:endParaRPr lang="ru-RU" sz="2400" dirty="0"/>
          </a:p>
          <a:p>
            <a:pPr marL="457200" indent="-457200">
              <a:buFont typeface="+mj-lt"/>
              <a:buAutoNum type="arabicPeriod"/>
              <a:defRPr/>
            </a:pPr>
            <a:endParaRPr lang="ru-RU" sz="2400" dirty="0"/>
          </a:p>
          <a:p>
            <a:pPr marL="0" indent="0">
              <a:buNone/>
              <a:defRPr/>
            </a:pPr>
            <a:endParaRPr lang="en-US" sz="2400" dirty="0"/>
          </a:p>
          <a:p>
            <a:pPr marL="0" indent="0">
              <a:buNone/>
              <a:defRPr/>
            </a:pPr>
            <a:endParaRPr lang="en-US" sz="2400" dirty="0"/>
          </a:p>
        </p:txBody>
      </p:sp>
      <p:pic>
        <p:nvPicPr>
          <p:cNvPr id="16" name="Рисунок 15" descr="\documentclass{article}&#10;\usepackage{amsmath}&#10;\pagestyle{empty}&#10;\begin{document}&#10;&#10;\newcommand{\bs}{\boldsymbol}&#10;&#10;$\bs{\dot{x}} = \bs F(\bs x)$.&#10;&#10;&#10;\end{document}" title="IguanaTex Bitmap Display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016352" y="1847723"/>
            <a:ext cx="1129031" cy="262586"/>
          </a:xfrm>
          <a:prstGeom prst="rect">
            <a:avLst/>
          </a:prstGeom>
        </p:spPr>
      </p:pic>
      <p:pic>
        <p:nvPicPr>
          <p:cNvPr id="34" name="Рисунок 33" descr="\documentclass{article}&#10;\usepackage{amsmath}&#10;\pagestyle{empty}&#10;\begin{document}&#10;&#10;\newcommand{\bs}{\boldsymbol}&#10;&#10;$\bs{x}_{n+1} = \bs{x}_n + \dfrac{h}{6}(\bs{k}_1 + 2\bs{k}_2 + 2\bs{k}_3 + \bs{k}_4)$,&#10;&#10;&#10;\end{document}" title="IguanaTex Bitmap Display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884000" y="2475735"/>
            <a:ext cx="5071950" cy="636093"/>
          </a:xfrm>
          <a:prstGeom prst="rect">
            <a:avLst/>
          </a:prstGeom>
        </p:spPr>
      </p:pic>
      <p:pic>
        <p:nvPicPr>
          <p:cNvPr id="36" name="Рисунок 35" descr="\documentclass{article}&#10;\usepackage{amsmath}&#10;\pagestyle{empty}&#10;\begin{document}&#10;&#10;\newcommand{\bs}{\boldsymbol}&#10;&#10;$h = \Delta t$,&#10;&#10;$\bs{k}_1 = \bs F(\bs{x}_n)$,&#10;&#10;$\bs{k}_2 = \bs F(\bs{x}_n + 0.5h\bs{k}_1)$,&#10;&#10;$\bs{k}_3 = \bs F(\bs{x}_n + 0.5h\bs{k}_2)$,&#10;&#10;$\bs{k}_4 = \bs F(\bs{x}_n + h\bs{k}_3)$;&#10;&#10;&#10;\end{document}" title="IguanaTex Bitmap Display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884000" y="3479333"/>
            <a:ext cx="2905287" cy="176549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28650" y="365127"/>
            <a:ext cx="7886700" cy="422910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3200"/>
              <a:t>Метод Рунге-Кутты 4 порядка.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28650" y="928697"/>
            <a:ext cx="8101282" cy="5000606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 startAt="3"/>
              <a:defRPr/>
            </a:pPr>
            <a:r>
              <a:rPr lang="ru-RU" sz="2400"/>
              <a:t>В нашем случае имеем систему из 4 уравнений с 4 неизвестными</a:t>
            </a:r>
            <a:r>
              <a:rPr lang="en-US" sz="2400"/>
              <a:t> (</a:t>
            </a:r>
            <a:r>
              <a:rPr lang="ru-RU" sz="2400"/>
              <a:t>хоть и в нашем случае </a:t>
            </a:r>
            <a:r>
              <a:rPr lang="en-US" sz="2400"/>
              <a:t>Fx </a:t>
            </a:r>
            <a:r>
              <a:rPr lang="ru-RU" sz="2400"/>
              <a:t> и </a:t>
            </a:r>
            <a:r>
              <a:rPr lang="en-US" sz="2400"/>
              <a:t>Fy </a:t>
            </a:r>
            <a:r>
              <a:rPr lang="ru-RU" sz="2400"/>
              <a:t>простые и зависят только от одной переменной, запишем для общего случая</a:t>
            </a:r>
            <a:r>
              <a:rPr lang="en-US" sz="2400"/>
              <a:t>)</a:t>
            </a:r>
            <a:r>
              <a:rPr lang="ru-RU" sz="2400"/>
              <a:t>:</a:t>
            </a:r>
            <a:endParaRPr/>
          </a:p>
          <a:p>
            <a:pPr marL="457200" indent="-457200">
              <a:buFont typeface="+mj-lt"/>
              <a:buAutoNum type="arabicPeriod" startAt="3"/>
              <a:defRPr/>
            </a:pPr>
            <a:endParaRPr lang="ru-RU" sz="2400"/>
          </a:p>
          <a:p>
            <a:pPr marL="0" indent="0">
              <a:buNone/>
              <a:defRPr/>
            </a:pPr>
            <a:endParaRPr lang="en-US" sz="2400"/>
          </a:p>
          <a:p>
            <a:pPr marL="0" indent="0">
              <a:buNone/>
              <a:defRPr/>
            </a:pPr>
            <a:endParaRPr lang="en-US" sz="2400"/>
          </a:p>
        </p:txBody>
      </p:sp>
      <p:pic>
        <p:nvPicPr>
          <p:cNvPr id="13" name="Рисунок 12" descr="\documentclass{article}&#10;\usepackage{amsmath}&#10;\pagestyle{empty}&#10;\begin{document}&#10;&#10;$\ddot{x} = F_{dx}(\dot{x},\dot{y},x,y)$,&#10;&#10;$\ddot{y} = F_{dy}(\dot{x},\dot{y},x,y)$,&#10;&#10;$\dot{x} = F_x(\dot{x},\dot{y},x,y)$,&#10;&#10;$\dot{y} = F_y(\dot{x},\dot{y},x,y)$.&#10;&#10;&#10;\end{document}" title="IguanaTex Bitmap Display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371293" y="2378288"/>
            <a:ext cx="2023349" cy="1214911"/>
          </a:xfrm>
          <a:prstGeom prst="rect">
            <a:avLst/>
          </a:prstGeom>
        </p:spPr>
      </p:pic>
      <p:pic>
        <p:nvPicPr>
          <p:cNvPr id="19" name="Рисунок 18" descr="\documentclass{article}&#10;\usepackage{amsmath}&#10;\pagestyle{empty}&#10;\begin{document}&#10;&#10;\newcommand{\bs}{\boldsymbol}&#10;&#10;$\bs{{x}} = \left(&#10;    \begin{array}{c}&#10;      \dot{x} \\&#10;      \dot{y} \\&#10;  x \\&#10;y&#10;    \end{array}&#10;  \right)$, \quad&#10;$\bs{{F}} = \left(&#10;    \begin{array}{c}&#10;      F_{dx} \\&#10;      F_{dy} \\&#10;  F_x \\&#10;F_y&#10;    \end{array}&#10;  \right) \quad \Rightarrow$&#10;&#10;&#10;\end{document}" title="IguanaTex Bitmap Display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73504" y="2378288"/>
            <a:ext cx="3984883" cy="1258474"/>
          </a:xfrm>
          <a:prstGeom prst="rect">
            <a:avLst/>
          </a:prstGeom>
        </p:spPr>
      </p:pic>
      <p:pic>
        <p:nvPicPr>
          <p:cNvPr id="5" name="Рисунок 4" descr="\documentclass{article}&#10;\usepackage{amsmath}&#10;\pagestyle{empty}&#10;\begin{document}&#10;&#10;\newcommand{\bs}{\boldsymbol}&#10;&#10;$\bs{k}_1 = \left(&#10;    \begin{array}{c}&#10;      F_{dx}(\dot{x},\dot{y},x,y) \\&#10;      F_{dy}(\dot{x},\dot{y},x,y) \\&#10;  F_{x}(\dot{x},\dot{y},x,y) \\&#10;F_{y}(\dot{x},\dot{y},x,y)    \end{array}&#10;  \right)$,&#10;&#10;&#10;\end{document}" title="IguanaTex Bitmap Display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903541" y="3777422"/>
            <a:ext cx="2859747" cy="1264177"/>
          </a:xfrm>
          <a:prstGeom prst="rect">
            <a:avLst/>
          </a:prstGeom>
        </p:spPr>
      </p:pic>
      <p:pic>
        <p:nvPicPr>
          <p:cNvPr id="47" name="Рисунок 46" descr="\documentclass{article}&#10;\usepackage{amsmath}&#10;\pagestyle{empty}&#10;\begin{document}&#10;&#10;\newcommand{\bs}{\boldsymbol}&#10;&#10;$\bs{k}_2 = \left(&#10;    \begin{array}{c}&#10;      F_{dx}(\dot{x} + 0.5h k_{1\dot{x}},\dot{y}+ 0.5h k_{1\dot{y}},x+ 0.5h k_{1x},y + 0.5h k_{1y}) \\&#10;      F_{dy}(\dot{x} + 0.5h k_{1\dot{x}},\dot{y}+ 0.5h k_{1\dot{y}},x+ 0.5h k_{1x},y + 0.5h k_{1y}) \\&#10;  F_{x}(\dot{x} + 0.5h k_{1\dot{x}},\dot{y}+ 0.5h k_{1\dot{y}},x+ 0.5h k_{1x},y + 0.5h k_{1y}) \\&#10;F_{y}(\dot{x} + 0.5h k_{1\dot{x}},\dot{y}+ 0.5h k_{1\dot{y}},x+ 0.5h k_{1x},y + 0.5h k_{1y})    \end{array}&#10;  \right)$...&#10;&#10;&#10;\end{document}" title="IguanaTex Bitmap Display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931455" y="5222964"/>
            <a:ext cx="7592245" cy="127566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28650" y="365127"/>
            <a:ext cx="7886700" cy="422910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3200"/>
              <a:t>Метод Рунге-Кутты 4 порядка.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28650" y="928697"/>
            <a:ext cx="8101282" cy="5000606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 startAt="4"/>
              <a:defRPr/>
            </a:pPr>
            <a:r>
              <a:rPr lang="ru-RU" sz="2400"/>
              <a:t>На каждом шаге рассчитываем сначала коэффициенты </a:t>
            </a:r>
            <a:r>
              <a:rPr lang="en-US" sz="2400">
                <a:latin typeface="CMU Classical Serif"/>
              </a:rPr>
              <a:t>k</a:t>
            </a:r>
            <a:r>
              <a:rPr lang="en-US" sz="2400"/>
              <a:t> (</a:t>
            </a:r>
            <a:r>
              <a:rPr lang="ru-RU" sz="2400"/>
              <a:t>16 значений), далее последовательно считаем </a:t>
            </a:r>
            <a:endParaRPr/>
          </a:p>
          <a:p>
            <a:pPr marL="457200" indent="-457200">
              <a:buFont typeface="+mj-lt"/>
              <a:buAutoNum type="arabicPeriod" startAt="4"/>
              <a:defRPr/>
            </a:pPr>
            <a:endParaRPr lang="ru-RU" sz="2400"/>
          </a:p>
          <a:p>
            <a:pPr marL="0" indent="0">
              <a:buNone/>
              <a:defRPr/>
            </a:pPr>
            <a:endParaRPr lang="en-US" sz="2400"/>
          </a:p>
          <a:p>
            <a:pPr marL="0" indent="0">
              <a:buNone/>
              <a:defRPr/>
            </a:pPr>
            <a:endParaRPr lang="en-US" sz="2400"/>
          </a:p>
        </p:txBody>
      </p:sp>
      <p:pic>
        <p:nvPicPr>
          <p:cNvPr id="5" name="Рисунок 4" descr="\documentclass{article}&#10;\usepackage{amsmath}&#10;\pagestyle{empty}&#10;\begin{document}&#10;&#10;$\dot{x}$, $\dot{y}$, $x$, $y$.&#10;&#10;&#10;\end{document}" title="IguanaTex Bitmap Display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518400" y="1366982"/>
            <a:ext cx="1062095" cy="220952"/>
          </a:xfrm>
          <a:prstGeom prst="rect">
            <a:avLst/>
          </a:prstGeom>
        </p:spPr>
      </p:pic>
      <p:pic>
        <p:nvPicPr>
          <p:cNvPr id="14" name="Рисунок 13" descr="\documentclass{article}&#10;\usepackage{amsmath}&#10;\pagestyle{empty}&#10;\begin{document}&#10;&#10;\newcommand{\bs}{\boldsymbol}&#10;&#10;$\dot{x}_{n+1} = \dot{x}_n + \dfrac{h}{6}(k_{1\dot{x}} + 2k_{2\dot{x}} + 2k_{3\dot{x}} + k_{4\dot{x}})$,&#10;&#10;$\dot{y}_{n+1} = \dot{y}_n + \dfrac{h}{6}(k_{1\dot{y}} + 2k_{2\dot{y}} + 2k_{3\dot{y}} + k_{4\dot{y}})$,&#10;&#10;$x_{n+1} = x_n + \dfrac{h}{6}(k_{1x} + 2k_{2x} + 2k_{3x} + k_{4x})$,&#10;&#10;$y_{n+1} = y_n + \dfrac{h}{6}(k_{1y} + 2k_{2y} + 2k_{3y} + k_{4y})$.&#10;&#10;&#10;\end{document}" title="IguanaTex Bitmap Display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892895" y="1815334"/>
            <a:ext cx="5453314" cy="263114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Объект 2"/>
          <p:cNvSpPr txBox="1"/>
          <p:nvPr/>
        </p:nvSpPr>
        <p:spPr bwMode="auto">
          <a:xfrm>
            <a:off x="628650" y="928697"/>
            <a:ext cx="8101282" cy="50006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  <a:defRPr/>
            </a:pPr>
            <a:r>
              <a:rPr lang="ru-RU" sz="2400"/>
              <a:t>Рассмотрим уравнение</a:t>
            </a:r>
            <a:r>
              <a:rPr lang="en-US" sz="2400"/>
              <a:t> </a:t>
            </a:r>
            <a:endParaRPr/>
          </a:p>
          <a:p>
            <a:pPr marL="457200" indent="-457200">
              <a:buFont typeface="+mj-lt"/>
              <a:buAutoNum type="arabicPeriod"/>
              <a:defRPr/>
            </a:pPr>
            <a:endParaRPr lang="en-US" sz="2400"/>
          </a:p>
          <a:p>
            <a:pPr marL="457200" indent="-457200">
              <a:buFont typeface="+mj-lt"/>
              <a:buAutoNum type="arabicPeriod"/>
              <a:defRPr/>
            </a:pPr>
            <a:r>
              <a:rPr lang="ru-RU" sz="2400"/>
              <a:t>Тогда:</a:t>
            </a:r>
            <a:endParaRPr/>
          </a:p>
          <a:p>
            <a:pPr marL="457200" indent="-457200">
              <a:buFont typeface="+mj-lt"/>
              <a:buAutoNum type="arabicPeriod"/>
              <a:defRPr/>
            </a:pPr>
            <a:endParaRPr lang="ru-RU" sz="2400"/>
          </a:p>
          <a:p>
            <a:pPr marL="0" indent="0">
              <a:buFont typeface="Arial"/>
              <a:buNone/>
              <a:defRPr/>
            </a:pPr>
            <a:r>
              <a:rPr lang="en-US" sz="2400"/>
              <a:t>      </a:t>
            </a:r>
            <a:r>
              <a:rPr lang="ru-RU" sz="2400"/>
              <a:t>где:</a:t>
            </a:r>
            <a:endParaRPr/>
          </a:p>
          <a:p>
            <a:pPr marL="457200" indent="-457200">
              <a:buFont typeface="+mj-lt"/>
              <a:buAutoNum type="arabicPeriod"/>
              <a:defRPr/>
            </a:pPr>
            <a:endParaRPr lang="ru-RU" sz="2400"/>
          </a:p>
          <a:p>
            <a:pPr marL="457200" indent="-457200">
              <a:buFont typeface="+mj-lt"/>
              <a:buAutoNum type="arabicPeriod"/>
              <a:defRPr/>
            </a:pPr>
            <a:endParaRPr lang="ru-RU" sz="2400"/>
          </a:p>
          <a:p>
            <a:pPr marL="457200" indent="-457200">
              <a:buFont typeface="+mj-lt"/>
              <a:buAutoNum type="arabicPeriod"/>
              <a:defRPr/>
            </a:pPr>
            <a:endParaRPr lang="ru-RU" sz="2400"/>
          </a:p>
          <a:p>
            <a:pPr marL="0" indent="0">
              <a:buFont typeface="Arial"/>
              <a:buNone/>
              <a:defRPr/>
            </a:pPr>
            <a:endParaRPr lang="en-US" sz="2400"/>
          </a:p>
          <a:p>
            <a:pPr marL="0" indent="0">
              <a:buFont typeface="Arial"/>
              <a:buNone/>
              <a:defRPr/>
            </a:pPr>
            <a:endParaRPr lang="en-US" sz="2400"/>
          </a:p>
        </p:txBody>
      </p:sp>
      <p:pic>
        <p:nvPicPr>
          <p:cNvPr id="9" name="Рисунок 8" descr="\documentclass{article}&#10;\usepackage{amsmath}&#10;\pagestyle{empty}&#10;\begin{document}&#10;&#10;\newcommand{\bs}{\boldsymbol}&#10;&#10;$\bs{\dot{x}} = \bs F(\bs x)$.&#10;&#10;&#10;\end{document}" title="IguanaTex Bitmap Display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007484" y="1439630"/>
            <a:ext cx="1129031" cy="262586"/>
          </a:xfrm>
          <a:prstGeom prst="rect">
            <a:avLst/>
          </a:prstGeom>
        </p:spPr>
      </p:pic>
      <p:pic>
        <p:nvPicPr>
          <p:cNvPr id="15" name="Рисунок 14" descr="\documentclass{article}&#10;\usepackage{amsmath}&#10;\pagestyle{empty}&#10;\begin{document}&#10;&#10;\newcommand{\bs}{\boldsymbol}&#10;&#10;$\bs{x}_{n+1} = \bs{x}_n + \dfrac{h}{2}(\bs{k}_1 + \bs{k}_2)$,&#10;&#10;&#10;\end{document}" title="IguanaTex Bitmap Display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883999" y="2157752"/>
            <a:ext cx="3376586" cy="632242"/>
          </a:xfrm>
          <a:prstGeom prst="rect">
            <a:avLst/>
          </a:prstGeom>
        </p:spPr>
      </p:pic>
      <p:pic>
        <p:nvPicPr>
          <p:cNvPr id="19" name="Рисунок 18" descr="\documentclass{article}&#10;\usepackage{amsmath}&#10;\pagestyle{empty}&#10;\begin{document}&#10;&#10;\newcommand{\bs}{\boldsymbol}&#10;&#10;$h = \Delta t$,&#10;&#10;$\bs{k}_1 = \bs F(\bs{x}_n)$,&#10;&#10;$\bs{k}_2 = \bs F(\bs{x}_n + h\bs{k}_1)$;&#10;&#10;\end{document}" title="IguanaTex Bitmap Display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883999" y="3328883"/>
            <a:ext cx="2515294" cy="1030765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93963" y="365127"/>
            <a:ext cx="8774545" cy="422910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3200"/>
              <a:t>Метод Хьюна через формулы метода Рунге-Кутты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28650" y="365127"/>
            <a:ext cx="7886700" cy="422910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3200"/>
              <a:t>Лабораторная работа 2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28650" y="928697"/>
            <a:ext cx="8101282" cy="5000606"/>
          </a:xfrm>
        </p:spPr>
        <p:txBody>
          <a:bodyPr>
            <a:noAutofit/>
          </a:bodyPr>
          <a:lstStyle/>
          <a:p>
            <a:pPr algn="just">
              <a:defRPr/>
            </a:pPr>
            <a:r>
              <a:rPr lang="ru-RU" sz="2400" dirty="0"/>
              <a:t>Используя теоретические уравнения движения, получить 5</a:t>
            </a:r>
            <a:r>
              <a:rPr lang="en-US" sz="2400" dirty="0"/>
              <a:t> (</a:t>
            </a:r>
            <a:r>
              <a:rPr lang="ru-RU" sz="2400" dirty="0"/>
              <a:t>или 25</a:t>
            </a:r>
            <a:r>
              <a:rPr lang="en-US" sz="2400" dirty="0"/>
              <a:t>)</a:t>
            </a:r>
            <a:r>
              <a:rPr lang="ru-RU" sz="2400" dirty="0"/>
              <a:t> «экспериментальных» траекторий. Найти усредненную траекторию, построить доверительный интервал.</a:t>
            </a:r>
            <a:endParaRPr dirty="0"/>
          </a:p>
          <a:p>
            <a:pPr algn="just">
              <a:defRPr/>
            </a:pPr>
            <a:endParaRPr lang="ru-RU" sz="2400" dirty="0"/>
          </a:p>
          <a:p>
            <a:pPr algn="just">
              <a:defRPr/>
            </a:pPr>
            <a:r>
              <a:rPr lang="ru-RU" sz="2400" dirty="0"/>
              <a:t>Под «экспериментальной» понимается теоретическая траектория + некоторый шум: </a:t>
            </a:r>
            <a:r>
              <a:rPr lang="en-US" sz="2400" dirty="0" err="1"/>
              <a:t>X_exp</a:t>
            </a:r>
            <a:r>
              <a:rPr lang="en-US" sz="2400" dirty="0"/>
              <a:t>[</a:t>
            </a:r>
            <a:r>
              <a:rPr lang="en-US" sz="2400" dirty="0" err="1"/>
              <a:t>i</a:t>
            </a:r>
            <a:r>
              <a:rPr lang="en-US" sz="2400" dirty="0"/>
              <a:t>] = X[</a:t>
            </a:r>
            <a:r>
              <a:rPr lang="en-US" sz="2400" dirty="0" err="1"/>
              <a:t>i</a:t>
            </a:r>
            <a:r>
              <a:rPr lang="en-US" sz="2400" dirty="0"/>
              <a:t>] + Noise[</a:t>
            </a:r>
            <a:r>
              <a:rPr lang="en-US" sz="2400" dirty="0" err="1"/>
              <a:t>i</a:t>
            </a:r>
            <a:r>
              <a:rPr lang="en-US" sz="2400" dirty="0"/>
              <a:t>]</a:t>
            </a:r>
            <a:r>
              <a:rPr lang="ru-RU" sz="2400" dirty="0"/>
              <a:t>;</a:t>
            </a:r>
            <a:endParaRPr dirty="0"/>
          </a:p>
          <a:p>
            <a:pPr lvl="1" algn="just">
              <a:defRPr/>
            </a:pPr>
            <a:r>
              <a:rPr lang="en-US" sz="2000" dirty="0"/>
              <a:t>Noise[</a:t>
            </a:r>
            <a:r>
              <a:rPr lang="en-US" sz="2000" dirty="0" err="1"/>
              <a:t>i</a:t>
            </a:r>
            <a:r>
              <a:rPr lang="en-US" sz="2000" dirty="0"/>
              <a:t>] = Random() – </a:t>
            </a:r>
            <a:r>
              <a:rPr lang="ru-RU" sz="2000" dirty="0"/>
              <a:t>плохо;</a:t>
            </a:r>
            <a:endParaRPr lang="en-US" sz="2000" dirty="0"/>
          </a:p>
          <a:p>
            <a:pPr lvl="1" algn="just">
              <a:defRPr/>
            </a:pPr>
            <a:r>
              <a:rPr lang="en-US" sz="2000" dirty="0"/>
              <a:t>Noise[</a:t>
            </a:r>
            <a:r>
              <a:rPr lang="en-US" sz="2000" dirty="0" err="1"/>
              <a:t>i</a:t>
            </a:r>
            <a:r>
              <a:rPr lang="en-US" sz="2000" dirty="0"/>
              <a:t>] = Noise[i-1] + Random() – </a:t>
            </a:r>
            <a:r>
              <a:rPr lang="ru-RU" sz="2000" dirty="0"/>
              <a:t>хорошо;</a:t>
            </a:r>
            <a:endParaRPr lang="en-US" sz="2000" dirty="0"/>
          </a:p>
          <a:p>
            <a:pPr lvl="1" algn="just">
              <a:defRPr/>
            </a:pPr>
            <a:endParaRPr lang="en-US" sz="2000" dirty="0"/>
          </a:p>
          <a:p>
            <a:pPr lvl="1" algn="just">
              <a:defRPr/>
            </a:pPr>
            <a:endParaRPr lang="ru-RU" sz="2000" dirty="0"/>
          </a:p>
          <a:p>
            <a:pPr lvl="1" algn="just">
              <a:defRPr/>
            </a:pPr>
            <a:endParaRPr lang="ru-RU" sz="2000" dirty="0"/>
          </a:p>
          <a:p>
            <a:pPr lvl="1" algn="just">
              <a:defRPr/>
            </a:pPr>
            <a:endParaRPr lang="ru-RU" sz="2000" dirty="0"/>
          </a:p>
          <a:p>
            <a:pPr marL="457200" indent="-457200">
              <a:buFont typeface="+mj-lt"/>
              <a:buAutoNum type="arabicPeriod"/>
              <a:defRPr/>
            </a:pPr>
            <a:endParaRPr lang="ru-RU" sz="2400" dirty="0"/>
          </a:p>
          <a:p>
            <a:pPr marL="0" indent="0">
              <a:buNone/>
              <a:defRPr/>
            </a:pPr>
            <a:endParaRPr lang="en-US" sz="2400" dirty="0"/>
          </a:p>
          <a:p>
            <a:pPr marL="0" indent="0">
              <a:buNone/>
              <a:defRPr/>
            </a:pP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28650" y="365127"/>
            <a:ext cx="7886700" cy="422910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3200"/>
              <a:t>Лабораторная работа 2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28650" y="928697"/>
            <a:ext cx="8101282" cy="5000606"/>
          </a:xfrm>
        </p:spPr>
        <p:txBody>
          <a:bodyPr>
            <a:noAutofit/>
          </a:bodyPr>
          <a:lstStyle/>
          <a:p>
            <a:pPr marL="457200" indent="-457200" algn="just">
              <a:buFont typeface="+mj-lt"/>
              <a:buAutoNum type="arabicPeriod"/>
              <a:defRPr/>
            </a:pPr>
            <a:r>
              <a:rPr lang="ru-RU" sz="2400" dirty="0"/>
              <a:t>Усредненная траектория движения:</a:t>
            </a:r>
            <a:endParaRPr lang="en-US" sz="2400" dirty="0"/>
          </a:p>
          <a:p>
            <a:pPr lvl="1" algn="just">
              <a:defRPr/>
            </a:pPr>
            <a:endParaRPr lang="ru-RU" sz="2000" dirty="0"/>
          </a:p>
          <a:p>
            <a:pPr lvl="1" algn="just">
              <a:defRPr/>
            </a:pPr>
            <a:endParaRPr lang="ru-RU" sz="2000" dirty="0"/>
          </a:p>
          <a:p>
            <a:pPr marL="457200" lvl="1" indent="0" algn="just">
              <a:buNone/>
              <a:defRPr/>
            </a:pPr>
            <a:endParaRPr lang="ru-RU" sz="2000" dirty="0"/>
          </a:p>
          <a:p>
            <a:pPr marL="0" indent="0">
              <a:buNone/>
              <a:defRPr/>
            </a:pPr>
            <a:r>
              <a:rPr lang="ru-RU" sz="2400" dirty="0"/>
              <a:t>где </a:t>
            </a:r>
            <a:r>
              <a:rPr lang="en-US" sz="2400" dirty="0">
                <a:latin typeface="CMU Classical Serif"/>
                <a:ea typeface="CMU Classical Serif"/>
                <a:cs typeface="CMU Classical Serif"/>
              </a:rPr>
              <a:t>N</a:t>
            </a:r>
            <a:r>
              <a:rPr lang="ru-RU" sz="2400" dirty="0"/>
              <a:t> – количество экспериментальных траекторий, данная формула считается для каждой точки.</a:t>
            </a:r>
            <a:endParaRPr dirty="0"/>
          </a:p>
          <a:p>
            <a:pPr marL="0" indent="0">
              <a:buNone/>
              <a:defRPr/>
            </a:pPr>
            <a:endParaRPr lang="ru-RU" sz="2400" dirty="0"/>
          </a:p>
          <a:p>
            <a:pPr marL="0" indent="0" algn="just">
              <a:buNone/>
              <a:defRPr/>
            </a:pPr>
            <a:r>
              <a:rPr lang="ru-RU" sz="2400" dirty="0"/>
              <a:t>2. Доверительный интервал – интервал, в который попадают измеренные в эксперименте значения, соответствующие </a:t>
            </a:r>
            <a:r>
              <a:rPr lang="ru-RU" sz="2400" b="1" i="1" dirty="0"/>
              <a:t>доверительной вероятности.</a:t>
            </a:r>
            <a:endParaRPr lang="en-US" sz="2400" b="1" i="1" dirty="0"/>
          </a:p>
          <a:p>
            <a:pPr marL="0" indent="0" algn="just">
              <a:buNone/>
              <a:defRPr/>
            </a:pPr>
            <a:endParaRPr lang="en-US" sz="2400" b="1" i="1" dirty="0"/>
          </a:p>
          <a:p>
            <a:pPr marL="0" indent="0" algn="just">
              <a:buNone/>
              <a:defRPr/>
            </a:pPr>
            <a:r>
              <a:rPr lang="ru-RU" sz="2400" dirty="0"/>
              <a:t>где </a:t>
            </a:r>
            <a:r>
              <a:rPr lang="en-US" sz="2400" dirty="0"/>
              <a:t>                          </a:t>
            </a:r>
            <a:r>
              <a:rPr lang="ru-RU" sz="2400" dirty="0"/>
              <a:t> –</a:t>
            </a:r>
            <a:r>
              <a:rPr lang="en-US" sz="2400" dirty="0"/>
              <a:t> </a:t>
            </a:r>
            <a:r>
              <a:rPr lang="ru-RU" sz="2400" dirty="0"/>
              <a:t>точность интервальной оценки.</a:t>
            </a:r>
            <a:endParaRPr lang="en-US" sz="2400" dirty="0"/>
          </a:p>
          <a:p>
            <a:pPr marL="0" indent="0" algn="just">
              <a:buNone/>
              <a:defRPr/>
            </a:pPr>
            <a:endParaRPr lang="en-US" sz="2400" dirty="0">
              <a:ea typeface="CMU Classical Serif"/>
              <a:cs typeface="CMU Classical Serif"/>
            </a:endParaRPr>
          </a:p>
        </p:txBody>
      </p:sp>
      <p:pic>
        <p:nvPicPr>
          <p:cNvPr id="36" name="Рисунок 35" descr="\documentclass{article}&#10;\usepackage{amsmath}&#10;\pagestyle{empty}&#10;\begin{document}&#10;&#10;$\bar{x} = \dfrac{1}{N}\sum\limits^{N}_{i=1} x_i$,&#10;&#10;&#10;\end{document}" title="IguanaTex Bitmap Display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692871" y="1547963"/>
            <a:ext cx="1758258" cy="704855"/>
          </a:xfrm>
          <a:prstGeom prst="rect">
            <a:avLst/>
          </a:prstGeom>
        </p:spPr>
      </p:pic>
      <p:pic>
        <p:nvPicPr>
          <p:cNvPr id="32" name="Рисунок 31" descr="\documentclass{article}&#10;\usepackage{amsmath}&#10;\pagestyle{empty}&#10;\begin{document}&#10;&#10;&#10;$\bar{x} \pm \Delta$,&#10;&#10;\end{document}" title="IguanaTex Bitmap Display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183009" y="4816671"/>
            <a:ext cx="854938" cy="280454"/>
          </a:xfrm>
          <a:prstGeom prst="rect">
            <a:avLst/>
          </a:prstGeom>
        </p:spPr>
      </p:pic>
      <p:pic>
        <p:nvPicPr>
          <p:cNvPr id="15" name="Рисунок 14" descr="\documentclass{article}&#10;\usepackage{amsmath}&#10;\pagestyle{empty}&#10;\begin{document}&#10;&#10;$\Delta = \dfrac{\sigma}{\sqrt{N}}Z_{\alpha}$&#10;&#10;&#10;\end{document}" title="IguanaTex Bitmap Display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323676" y="5112770"/>
            <a:ext cx="1598619" cy="624084"/>
          </a:xfrm>
          <a:prstGeom prst="rect">
            <a:avLst/>
          </a:prstGeom>
        </p:spPr>
      </p:pic>
      <p:pic>
        <p:nvPicPr>
          <p:cNvPr id="17" name="Рисунок 16" descr="\documentclass{article}&#10;\usepackage{amsmath}&#10;\pagestyle{empty}&#10;\begin{document}&#10;&#10;$\sigma$&#10;&#10;&#10;\end{document}" title="IguanaTex Bitmap Display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763456" y="5945906"/>
            <a:ext cx="162743" cy="135314"/>
          </a:xfrm>
          <a:prstGeom prst="rect">
            <a:avLst/>
          </a:prstGeom>
        </p:spPr>
      </p:pic>
      <p:sp>
        <p:nvSpPr>
          <p:cNvPr id="18" name="Прямоугольник 17"/>
          <p:cNvSpPr/>
          <p:nvPr/>
        </p:nvSpPr>
        <p:spPr bwMode="auto">
          <a:xfrm>
            <a:off x="926199" y="5771473"/>
            <a:ext cx="511499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2400"/>
              <a:t>–</a:t>
            </a:r>
            <a:r>
              <a:rPr lang="en-US" sz="2400"/>
              <a:t> </a:t>
            </a:r>
            <a:r>
              <a:rPr lang="ru-RU" sz="2400"/>
              <a:t>среднеквадратическое отклонение,</a:t>
            </a:r>
            <a:endParaRPr/>
          </a:p>
          <a:p>
            <a:pPr>
              <a:defRPr/>
            </a:pPr>
            <a:r>
              <a:rPr lang="ru-RU" sz="2400"/>
              <a:t>– квантиль распределения.</a:t>
            </a:r>
            <a:endParaRPr lang="en-US" sz="2400"/>
          </a:p>
        </p:txBody>
      </p:sp>
      <p:pic>
        <p:nvPicPr>
          <p:cNvPr id="20" name="Рисунок 19" descr="\documentclass{article}&#10;\usepackage{amsmath}&#10;\pagestyle{empty}&#10;\begin{document}&#10;&#10;$Z_{\alpha}$&#10;&#10;&#10;\end{document}" title="IguanaTex Bitmap Display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705399" y="6281063"/>
            <a:ext cx="278857" cy="211809"/>
          </a:xfrm>
          <a:prstGeom prst="rect">
            <a:avLst/>
          </a:prstGeom>
        </p:spPr>
      </p:pic>
      <p:pic>
        <p:nvPicPr>
          <p:cNvPr id="21" name="Рисунок 20" descr="\documentclass{article}&#10;\usepackage{amsmath}&#10;\usepackage{amsfonts}&#10;\pagestyle{empty}&#10;\usepackage[english,russian]{babel}&#10;\usepackage[papersize={17 cm,15.4 cm}]{geometry}&#10;\newcommand{\bs}[1]{\boldsymbol{#1}}&#10;\newcommand{\bm}[1]{\mathbf{#1}}&#10;\newcommand{\der}[2]{\dfrac{d #1}{d #2}}&#10;\newcommand{\pder}[2]{\dfrac{\partial #1}{\partial #2}}&#10;&#10;\begin{document}&#10;\noindent&#10;\[&#10;\sigma^2 = \dfrac{1}{N-1} \sum^N_{i=1}(x_i-\bar{x})^2.\]&#10;&#10;&#10;\end{document}" title="IguanaTex Bitmap Display">
            <a:extLst>
              <a:ext uri="{FF2B5EF4-FFF2-40B4-BE49-F238E27FC236}">
                <a16:creationId xmlns:a16="http://schemas.microsoft.com/office/drawing/2014/main" id="{96BA3212-2D3E-4074-A135-BD1B7461D33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940" y="5638889"/>
            <a:ext cx="2774067" cy="74934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28650" y="365127"/>
            <a:ext cx="7886700" cy="422910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3200"/>
              <a:t>Лабораторная работа 2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28650" y="928697"/>
            <a:ext cx="8101282" cy="5000606"/>
          </a:xfrm>
        </p:spPr>
        <p:txBody>
          <a:bodyPr>
            <a:noAutofit/>
          </a:bodyPr>
          <a:lstStyle/>
          <a:p>
            <a:pPr marL="0" indent="0" algn="just">
              <a:buNone/>
              <a:defRPr/>
            </a:pPr>
            <a:r>
              <a:rPr lang="ru-RU" sz="2400">
                <a:ea typeface="CMU Classical Serif"/>
                <a:cs typeface="CMU Classical Serif"/>
              </a:rPr>
              <a:t>Среднее значение одинаково распределенных случайных величин </a:t>
            </a:r>
            <a:r>
              <a:rPr lang="ru-RU" sz="2400" b="1">
                <a:ea typeface="CMU Classical Serif"/>
                <a:cs typeface="CMU Classical Serif"/>
              </a:rPr>
              <a:t>стремится к нормальному</a:t>
            </a:r>
            <a:r>
              <a:rPr lang="ru-RU" sz="2400">
                <a:ea typeface="CMU Classical Serif"/>
                <a:cs typeface="CMU Classical Serif"/>
              </a:rPr>
              <a:t>.</a:t>
            </a:r>
            <a:endParaRPr/>
          </a:p>
          <a:p>
            <a:pPr marL="0" indent="0" algn="just">
              <a:buNone/>
              <a:defRPr/>
            </a:pPr>
            <a:endParaRPr lang="ru-RU" sz="2400">
              <a:ea typeface="CMU Classical Serif"/>
              <a:cs typeface="CMU Classical Serif"/>
            </a:endParaRPr>
          </a:p>
          <a:p>
            <a:pPr marL="0" indent="0" algn="just">
              <a:buNone/>
              <a:defRPr/>
            </a:pPr>
            <a:r>
              <a:rPr lang="ru-RU" sz="2400">
                <a:ea typeface="CMU Classical Serif"/>
                <a:cs typeface="CMU Classical Serif"/>
              </a:rPr>
              <a:t>При бесконечном количестве экспериментов распределение ошибки является нормальным.</a:t>
            </a:r>
            <a:endParaRPr/>
          </a:p>
          <a:p>
            <a:pPr marL="0" indent="0" algn="just">
              <a:buNone/>
              <a:defRPr/>
            </a:pPr>
            <a:endParaRPr lang="ru-RU" sz="2400">
              <a:ea typeface="CMU Classical Serif"/>
              <a:cs typeface="CMU Classical Serif"/>
            </a:endParaRPr>
          </a:p>
          <a:p>
            <a:pPr marL="0" indent="0" algn="just">
              <a:buNone/>
              <a:defRPr/>
            </a:pPr>
            <a:r>
              <a:rPr lang="ru-RU" sz="2400">
                <a:ea typeface="CMU Classical Serif"/>
                <a:cs typeface="CMU Classical Serif"/>
              </a:rPr>
              <a:t>При конечном количестве можно использовать распределение Стьюдента.</a:t>
            </a:r>
            <a:endParaRPr/>
          </a:p>
          <a:p>
            <a:pPr marL="0" indent="0" algn="just">
              <a:buNone/>
              <a:defRPr/>
            </a:pPr>
            <a:endParaRPr lang="ru-RU" sz="2400">
              <a:ea typeface="CMU Classical Serif"/>
              <a:cs typeface="CMU Classical Serif"/>
            </a:endParaRPr>
          </a:p>
          <a:p>
            <a:pPr marL="0" indent="0" algn="just">
              <a:buNone/>
              <a:defRPr/>
            </a:pPr>
            <a:r>
              <a:rPr lang="ru-RU" sz="2400">
                <a:ea typeface="CMU Classical Serif"/>
                <a:cs typeface="CMU Classical Serif"/>
              </a:rPr>
              <a:t>Используем таблицу со значениями квантиля распределения для определенной вероятности.</a:t>
            </a:r>
            <a:endParaRPr/>
          </a:p>
          <a:p>
            <a:pPr lvl="1" algn="just">
              <a:defRPr/>
            </a:pPr>
            <a:r>
              <a:rPr lang="ru-RU" sz="2000">
                <a:ea typeface="CMU Classical Serif"/>
                <a:cs typeface="CMU Classical Serif"/>
              </a:rPr>
              <a:t>Количество степеней свободы = кол-во экспериментов – 1;</a:t>
            </a:r>
            <a:endParaRPr/>
          </a:p>
          <a:p>
            <a:pPr lvl="1" algn="just">
              <a:defRPr/>
            </a:pPr>
            <a:r>
              <a:rPr lang="ru-RU" sz="2000">
                <a:ea typeface="CMU Classical Serif"/>
                <a:cs typeface="CMU Classical Serif"/>
              </a:rPr>
              <a:t>Используем двусторонний интервал.</a:t>
            </a:r>
            <a:endParaRPr lang="en-US" sz="2000">
              <a:ea typeface="CMU Classical Serif"/>
              <a:cs typeface="CMU Classical Serif"/>
            </a:endParaRPr>
          </a:p>
        </p:txBody>
      </p:sp>
      <p:sp>
        <p:nvSpPr>
          <p:cNvPr id="4" name="Прямоугольник 3"/>
          <p:cNvSpPr/>
          <p:nvPr/>
        </p:nvSpPr>
        <p:spPr bwMode="auto">
          <a:xfrm>
            <a:off x="628650" y="6416839"/>
            <a:ext cx="828998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600"/>
              <a:t>https://ru.wikipedia.org/wiki/Распределение_Стьюдента</a:t>
            </a:r>
            <a:endParaRPr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2,9547"/>
  <p:tag name="ORIGINALWIDTH" val="1363,33"/>
  <p:tag name="LATEXADDIN" val="\documentclass{article}&#10;\usepackage{amsmath}&#10;\usepackage{amsfonts}&#10;\pagestyle{empty}&#10;\usepackage[english,russian]{babel}&#10;\usepackage[papersize={17 cm,15.4 cm}]{geometry}&#10;\newcommand{\bs}[1]{\boldsymbol{#1}}&#10;\newcommand{\bm}[1]{\mathbf{#1}}&#10;\newcommand{\der}[2]{\dfrac{d #1}{d #2}}&#10;\newcommand{\pder}[2]{\dfrac{\partial #1}{\partial #2}}&#10;&#10;\begin{document}&#10;\noindent&#10;\[&#10;\sigma^2 = \dfrac{1}{N-1} \sum^N_{i=1}(x_i-\bar{x})^2.\]&#10;&#10;&#10;\end{document}"/>
  <p:tag name="IGUANATEXSIZE" val="20"/>
  <p:tag name="IGUANATEXCURSOR" val="42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90</TotalTime>
  <Words>1114</Words>
  <Application>Microsoft Office PowerPoint</Application>
  <DocSecurity>0</DocSecurity>
  <PresentationFormat>Экран (4:3)</PresentationFormat>
  <Paragraphs>205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CMU Classical Serif</vt:lpstr>
      <vt:lpstr>Тема Office</vt:lpstr>
      <vt:lpstr>Программные средства для научных расчетов и обработки экспериментальных данных</vt:lpstr>
      <vt:lpstr>Постановка задачи</vt:lpstr>
      <vt:lpstr>Лабораторная работа 1</vt:lpstr>
      <vt:lpstr>Лабораторная работа 2</vt:lpstr>
      <vt:lpstr>Критерии оценки</vt:lpstr>
      <vt:lpstr>Уравнения движения</vt:lpstr>
      <vt:lpstr>Энергия</vt:lpstr>
      <vt:lpstr>Алгоритм решения</vt:lpstr>
      <vt:lpstr>Связь</vt:lpstr>
      <vt:lpstr>Пример</vt:lpstr>
      <vt:lpstr>Алгоритм решения. Пример</vt:lpstr>
      <vt:lpstr>Алгоритм решения. Пример</vt:lpstr>
      <vt:lpstr>Алгоритм решения. Пример</vt:lpstr>
      <vt:lpstr>Алгоритм решения. Пример</vt:lpstr>
      <vt:lpstr>Численные методы решения системы ОДУ. Метод Эйлера.</vt:lpstr>
      <vt:lpstr>Симметричная схема. Метод Хьюна.</vt:lpstr>
      <vt:lpstr>Метод Рунге-Кутты 4 порядка.</vt:lpstr>
      <vt:lpstr>Метод Рунге-Кутты 4 порядка.</vt:lpstr>
      <vt:lpstr>Метод Рунге-Кутты 4 порядка.</vt:lpstr>
      <vt:lpstr>Метод Хьюна через формулы метода Рунге-Кутты</vt:lpstr>
      <vt:lpstr>Лабораторная работа 2</vt:lpstr>
      <vt:lpstr>Лабораторная работа 2</vt:lpstr>
      <vt:lpstr>Лабораторная работа 2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Программные средства для научных расчетов и обработки экспериментальных данных</dc:title>
  <dc:subject/>
  <dc:creator>Anton</dc:creator>
  <cp:keywords/>
  <dc:description/>
  <cp:lastModifiedBy>Anton Klekovkin</cp:lastModifiedBy>
  <cp:revision>82</cp:revision>
  <dcterms:created xsi:type="dcterms:W3CDTF">2022-10-20T11:07:30Z</dcterms:created>
  <dcterms:modified xsi:type="dcterms:W3CDTF">2024-11-01T11:54:46Z</dcterms:modified>
  <cp:category/>
  <dc:identifier/>
  <cp:contentStatus/>
  <dc:language/>
  <cp:version/>
</cp:coreProperties>
</file>